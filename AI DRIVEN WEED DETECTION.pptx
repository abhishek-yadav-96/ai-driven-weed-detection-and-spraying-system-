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0" r:id="rId4"/>
    <p:sldId id="269" r:id="rId5"/>
    <p:sldId id="268" r:id="rId6"/>
    <p:sldId id="270" r:id="rId7"/>
    <p:sldId id="259" r:id="rId8"/>
    <p:sldId id="264" r:id="rId9"/>
    <p:sldId id="271"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97" autoAdjust="0"/>
    <p:restoredTop sz="94660"/>
  </p:normalViewPr>
  <p:slideViewPr>
    <p:cSldViewPr snapToGrid="0">
      <p:cViewPr>
        <p:scale>
          <a:sx n="67" d="100"/>
          <a:sy n="67" d="100"/>
        </p:scale>
        <p:origin x="820" y="23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D89DDD-448F-E1C0-D302-07BFCC79DE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E9939902-812C-CDB7-4FEE-B820828A94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86166D5-F66C-548E-5E49-CB0A2D26ECDD}"/>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F1F138DD-0389-9109-5BA0-1CD31F3D9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5501D31-A429-5D9D-C8F8-44E612235A13}"/>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1050173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52A3C7-9B72-0C8B-67D3-D262F2C262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4B97550-D87B-7AB5-13C7-337D83A48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E9570BC-3B22-C788-B540-FB97FC69610C}"/>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639D5877-84F5-DBA3-94AC-A8A08EB1C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F647F1B-F611-14E7-13A1-1EB8F3D104A8}"/>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3862273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E9DD78-4482-E476-4853-F239D0DB21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D179635-3C02-9EAB-8467-580B9AD6B6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A6C4686-1A7F-06D5-6291-7DAA0BD84B6F}"/>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8415DD51-FEEC-C90A-873A-6E0ED65C02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5B365FF8-78FB-CFC2-6867-636EF73462CA}"/>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3210885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FA117E0-961E-B380-592F-2BFF165E0A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B6B40F8-5430-E857-6BA0-0A1998BC90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DA17BBC4-1381-0504-7307-62678F3A39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A275932-D084-153E-31E5-DB067368889B}"/>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6" name="Footer Placeholder 5">
            <a:extLst>
              <a:ext uri="{FF2B5EF4-FFF2-40B4-BE49-F238E27FC236}">
                <a16:creationId xmlns="" xmlns:a16="http://schemas.microsoft.com/office/drawing/2014/main" id="{78FEC18A-CE35-6B1B-158D-124DE9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8AF5DC5-A274-E68E-177B-CB5888F7F8FA}"/>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227739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131974-4605-F1C6-E78B-E447952EFBA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467935C-C785-2AF5-8521-7E84B3CB2C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1C36591-57C7-3A64-ED46-D1C2A43782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AE9184B4-8F18-E008-4A64-C1CF27CE23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67A58143-825A-5A97-5EEC-2DCEBBB2C9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9A448B25-6CAC-AFED-7EF0-D7FF1CE59F29}"/>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8" name="Footer Placeholder 7">
            <a:extLst>
              <a:ext uri="{FF2B5EF4-FFF2-40B4-BE49-F238E27FC236}">
                <a16:creationId xmlns="" xmlns:a16="http://schemas.microsoft.com/office/drawing/2014/main" id="{1C0F2C8A-8040-2842-AEA3-65594F6574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FDEC6E5E-4801-32C9-C80F-9289C30168C9}"/>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408610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0466B7-46CB-4882-B319-15B5E410A6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4BCB0AD8-9619-9D88-9DBA-CE1D84D70AB8}"/>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4" name="Footer Placeholder 3">
            <a:extLst>
              <a:ext uri="{FF2B5EF4-FFF2-40B4-BE49-F238E27FC236}">
                <a16:creationId xmlns="" xmlns:a16="http://schemas.microsoft.com/office/drawing/2014/main" id="{1DE411CF-4FA5-3227-9447-037BFEF38E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2EAA2A83-ECF9-635C-5EEB-A1E892FD889D}"/>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3095280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F0E0014-6886-C604-699C-E3A674A0661D}"/>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3" name="Footer Placeholder 2">
            <a:extLst>
              <a:ext uri="{FF2B5EF4-FFF2-40B4-BE49-F238E27FC236}">
                <a16:creationId xmlns="" xmlns:a16="http://schemas.microsoft.com/office/drawing/2014/main" id="{F0F3335F-50D6-390E-F2F4-EA1135AC62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BEF22348-03F7-A591-4CE4-AF7BB3B73492}"/>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2042438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BAB032-7BAB-ECB3-625F-838C3EC54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2F3A9F3-8C35-D13A-2D48-B46CCE2388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0818727C-B2BE-C622-1664-D87C33D91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39866EF-0C9F-DA9F-949A-053390BB3CE6}"/>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6" name="Footer Placeholder 5">
            <a:extLst>
              <a:ext uri="{FF2B5EF4-FFF2-40B4-BE49-F238E27FC236}">
                <a16:creationId xmlns="" xmlns:a16="http://schemas.microsoft.com/office/drawing/2014/main" id="{CD78807A-0760-5BF8-3CE5-D63CAEEBBB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4205457-F571-EC59-5083-1CE291F7C537}"/>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3094227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AEA6F5-73A0-87F8-463C-ABEAB8450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F1214AE4-8DA1-B464-4347-1BF83E852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57C150C6-1D07-5543-F9DD-8307CE9CF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D10A8AC-9F7E-E400-2841-DE9932D4C72D}"/>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6" name="Footer Placeholder 5">
            <a:extLst>
              <a:ext uri="{FF2B5EF4-FFF2-40B4-BE49-F238E27FC236}">
                <a16:creationId xmlns="" xmlns:a16="http://schemas.microsoft.com/office/drawing/2014/main" id="{7ADA1739-118F-DC24-7D3D-D1595846E6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2B7CD6AF-4E24-9942-8BF8-F77EDEA4645B}"/>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155519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1849DA-FA94-B90F-5E50-91C8032D13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C1239AF6-28C7-49BF-5968-B076BF3A4A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5ED1E36-FC77-324F-7C56-F1B01B415181}"/>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5C3725A1-4560-5676-1E5A-9D89812472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E4443CC-00CA-71E8-B1F4-CAA3156C2A21}"/>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2726332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A91A4A1-8EEC-D3BA-C99D-EAC8A5E728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637A946B-23B4-F287-F1E4-14843DD095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2BAC6AF-3BCF-0FBD-067D-33530A588690}"/>
              </a:ext>
            </a:extLst>
          </p:cNvPr>
          <p:cNvSpPr>
            <a:spLocks noGrp="1"/>
          </p:cNvSpPr>
          <p:nvPr>
            <p:ph type="dt" sz="half" idx="10"/>
          </p:nvPr>
        </p:nvSpPr>
        <p:spPr/>
        <p:txBody>
          <a:body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F036E81C-D5E7-1DD7-C07E-A001F15D40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009EE5F-4AC8-891B-FF41-7424D10322AB}"/>
              </a:ext>
            </a:extLst>
          </p:cNvPr>
          <p:cNvSpPr>
            <a:spLocks noGrp="1"/>
          </p:cNvSpPr>
          <p:nvPr>
            <p:ph type="sldNum" sz="quarter" idx="12"/>
          </p:nvPr>
        </p:nvSpPr>
        <p:spPr/>
        <p:txBody>
          <a:bodyPr/>
          <a:lstStyle/>
          <a:p>
            <a:fld id="{F24D1D3F-2CA1-41FD-AB9B-E0A3CCC945E7}" type="slidenum">
              <a:rPr lang="en-IN" smtClean="0"/>
              <a:t>‹#›</a:t>
            </a:fld>
            <a:endParaRPr lang="en-IN"/>
          </a:p>
        </p:txBody>
      </p:sp>
    </p:spTree>
    <p:extLst>
      <p:ext uri="{BB962C8B-B14F-4D97-AF65-F5344CB8AC3E}">
        <p14:creationId xmlns:p14="http://schemas.microsoft.com/office/powerpoint/2010/main" val="1777109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8BDDD702-CC99-2F82-1B87-1D32E59437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0A9ADA3-FA63-14BA-AEEF-A9FB952939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43A2CE8-AD8A-E28C-392A-FAA662C93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CF82F9-2257-4C66-A2AF-973C497BB273}" type="datetimeFigureOut">
              <a:rPr lang="en-IN" smtClean="0"/>
              <a:t>12-03-2025</a:t>
            </a:fld>
            <a:endParaRPr lang="en-IN"/>
          </a:p>
        </p:txBody>
      </p:sp>
      <p:sp>
        <p:nvSpPr>
          <p:cNvPr id="5" name="Footer Placeholder 4">
            <a:extLst>
              <a:ext uri="{FF2B5EF4-FFF2-40B4-BE49-F238E27FC236}">
                <a16:creationId xmlns="" xmlns:a16="http://schemas.microsoft.com/office/drawing/2014/main" id="{987AC86A-30A5-06F5-A1C5-8ADD0B45D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FE875921-EDE5-8854-475C-732577464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D1D3F-2CA1-41FD-AB9B-E0A3CCC945E7}" type="slidenum">
              <a:rPr lang="en-IN" smtClean="0"/>
              <a:t>‹#›</a:t>
            </a:fld>
            <a:endParaRPr lang="en-IN"/>
          </a:p>
        </p:txBody>
      </p:sp>
    </p:spTree>
    <p:extLst>
      <p:ext uri="{BB962C8B-B14F-4D97-AF65-F5344CB8AC3E}">
        <p14:creationId xmlns:p14="http://schemas.microsoft.com/office/powerpoint/2010/main" val="928220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2.jp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F8B815A-C6AD-8B9A-2C14-80C129AE57BF}"/>
              </a:ext>
            </a:extLst>
          </p:cNvPr>
          <p:cNvSpPr txBox="1"/>
          <p:nvPr/>
        </p:nvSpPr>
        <p:spPr>
          <a:xfrm>
            <a:off x="444730" y="233741"/>
            <a:ext cx="7830589" cy="1015663"/>
          </a:xfrm>
          <a:prstGeom prst="rect">
            <a:avLst/>
          </a:prstGeom>
          <a:noFill/>
        </p:spPr>
        <p:txBody>
          <a:bodyPr wrap="square">
            <a:spAutoFit/>
          </a:bodyPr>
          <a:lstStyle/>
          <a:p>
            <a:pPr algn="ctr"/>
            <a:r>
              <a:rPr lang="en-US" sz="60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Problem Statement</a:t>
            </a:r>
          </a:p>
        </p:txBody>
      </p:sp>
      <p:grpSp>
        <p:nvGrpSpPr>
          <p:cNvPr id="6" name="Group 5">
            <a:extLst>
              <a:ext uri="{FF2B5EF4-FFF2-40B4-BE49-F238E27FC236}">
                <a16:creationId xmlns="" xmlns:a16="http://schemas.microsoft.com/office/drawing/2014/main" id="{4515FDBF-81CE-AD2A-8119-2EC7A64A0B5C}"/>
              </a:ext>
            </a:extLst>
          </p:cNvPr>
          <p:cNvGrpSpPr/>
          <p:nvPr/>
        </p:nvGrpSpPr>
        <p:grpSpPr>
          <a:xfrm>
            <a:off x="137160" y="315549"/>
            <a:ext cx="914400" cy="933855"/>
            <a:chOff x="-1223848" y="457201"/>
            <a:chExt cx="914400" cy="933855"/>
          </a:xfrm>
        </p:grpSpPr>
        <p:sp>
          <p:nvSpPr>
            <p:cNvPr id="7" name="Oval 6">
              <a:extLst>
                <a:ext uri="{FF2B5EF4-FFF2-40B4-BE49-F238E27FC236}">
                  <a16:creationId xmlns="" xmlns:a16="http://schemas.microsoft.com/office/drawing/2014/main" id="{1D7560C8-5079-DCA0-762A-2928D1868681}"/>
                </a:ext>
              </a:extLst>
            </p:cNvPr>
            <p:cNvSpPr/>
            <p:nvPr/>
          </p:nvSpPr>
          <p:spPr>
            <a:xfrm>
              <a:off x="-1218984" y="457201"/>
              <a:ext cx="909536" cy="90953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pic>
          <p:nvPicPr>
            <p:cNvPr id="8" name="Graphic 6" descr="Question mark with solid fill">
              <a:extLst>
                <a:ext uri="{FF2B5EF4-FFF2-40B4-BE49-F238E27FC236}">
                  <a16:creationId xmlns="" xmlns:a16="http://schemas.microsoft.com/office/drawing/2014/main" id="{E762A26D-FC6D-D032-2B4E-F60C62ED0E3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223848" y="476656"/>
              <a:ext cx="914400" cy="914400"/>
            </a:xfrm>
            <a:prstGeom prst="rect">
              <a:avLst/>
            </a:prstGeom>
          </p:spPr>
        </p:pic>
      </p:grpSp>
      <p:pic>
        <p:nvPicPr>
          <p:cNvPr id="9" name="Picture 8">
            <a:extLst>
              <a:ext uri="{FF2B5EF4-FFF2-40B4-BE49-F238E27FC236}">
                <a16:creationId xmlns="" xmlns:a16="http://schemas.microsoft.com/office/drawing/2014/main" id="{0AC69118-433C-67B9-94FA-157F9F2F90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14920" y="3961060"/>
            <a:ext cx="2323640" cy="2701713"/>
          </a:xfrm>
          <a:prstGeom prst="rect">
            <a:avLst/>
          </a:prstGeom>
        </p:spPr>
      </p:pic>
      <p:sp>
        <p:nvSpPr>
          <p:cNvPr id="4" name="Rectangle 3"/>
          <p:cNvSpPr/>
          <p:nvPr/>
        </p:nvSpPr>
        <p:spPr>
          <a:xfrm>
            <a:off x="1051560" y="1658035"/>
            <a:ext cx="9799320" cy="3416320"/>
          </a:xfrm>
          <a:prstGeom prst="rect">
            <a:avLst/>
          </a:prstGeom>
        </p:spPr>
        <p:txBody>
          <a:bodyPr wrap="square">
            <a:spAutoFit/>
          </a:bodyPr>
          <a:lstStyle/>
          <a:p>
            <a:r>
              <a:rPr lang="en-US" sz="3600" b="1" dirty="0" smtClean="0">
                <a:latin typeface="Adobe Garamond Pro Bold" panose="02020702060506020403" pitchFamily="18" charset="0"/>
              </a:rPr>
              <a:t>Traditional </a:t>
            </a:r>
            <a:r>
              <a:rPr lang="en-US" sz="3600" b="1" dirty="0">
                <a:latin typeface="Adobe Garamond Pro Bold" panose="02020702060506020403" pitchFamily="18" charset="0"/>
              </a:rPr>
              <a:t>weed control methods are inefficient, costly, and harmful to the environment due to excessive herbicide use. There is a need for an AI-driven system that accurately detects weeds and applies herbicides precisely, reducing chemical waste, costs, and environmental impact.</a:t>
            </a:r>
            <a:endParaRPr lang="en-IN" sz="3600" b="1" dirty="0">
              <a:latin typeface="Adobe Garamond Pro Bold" panose="02020702060506020403" pitchFamily="18" charset="0"/>
            </a:endParaRPr>
          </a:p>
        </p:txBody>
      </p:sp>
    </p:spTree>
    <p:extLst>
      <p:ext uri="{BB962C8B-B14F-4D97-AF65-F5344CB8AC3E}">
        <p14:creationId xmlns:p14="http://schemas.microsoft.com/office/powerpoint/2010/main" val="1243704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57F76356-4406-61DE-9194-26CEF9E134BF}"/>
              </a:ext>
            </a:extLst>
          </p:cNvPr>
          <p:cNvSpPr/>
          <p:nvPr/>
        </p:nvSpPr>
        <p:spPr>
          <a:xfrm>
            <a:off x="1557664" y="450277"/>
            <a:ext cx="4140877"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Calibri" panose="020F0502020204030204" pitchFamily="34" charset="0"/>
              </a:rPr>
              <a:t>Methodology</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9" name="Group 8">
            <a:extLst>
              <a:ext uri="{FF2B5EF4-FFF2-40B4-BE49-F238E27FC236}">
                <a16:creationId xmlns="" xmlns:a16="http://schemas.microsoft.com/office/drawing/2014/main" id="{0A900732-80CC-5FB2-C6BE-AD2D55651E06}"/>
              </a:ext>
            </a:extLst>
          </p:cNvPr>
          <p:cNvGrpSpPr/>
          <p:nvPr/>
        </p:nvGrpSpPr>
        <p:grpSpPr>
          <a:xfrm>
            <a:off x="344130" y="450277"/>
            <a:ext cx="923330" cy="923330"/>
            <a:chOff x="1818968" y="2458065"/>
            <a:chExt cx="923330" cy="923330"/>
          </a:xfrm>
        </p:grpSpPr>
        <p:sp>
          <p:nvSpPr>
            <p:cNvPr id="8" name="Oval 7">
              <a:extLst>
                <a:ext uri="{FF2B5EF4-FFF2-40B4-BE49-F238E27FC236}">
                  <a16:creationId xmlns="" xmlns:a16="http://schemas.microsoft.com/office/drawing/2014/main" id="{17F516DC-423B-ECFE-E217-C795DC697826}"/>
                </a:ext>
              </a:extLst>
            </p:cNvPr>
            <p:cNvSpPr/>
            <p:nvPr/>
          </p:nvSpPr>
          <p:spPr>
            <a:xfrm>
              <a:off x="1818968" y="2458065"/>
              <a:ext cx="923330" cy="92333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Graphic 5" descr="Books on shelf with solid fill">
              <a:extLst>
                <a:ext uri="{FF2B5EF4-FFF2-40B4-BE49-F238E27FC236}">
                  <a16:creationId xmlns="" xmlns:a16="http://schemas.microsoft.com/office/drawing/2014/main" id="{B870154F-6F25-16A2-C96A-B889AC22ACC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1889800" y="2528897"/>
              <a:ext cx="781665" cy="781665"/>
            </a:xfrm>
            <a:prstGeom prst="rect">
              <a:avLst/>
            </a:prstGeom>
          </p:spPr>
        </p:pic>
      </p:grpSp>
      <p:sp>
        <p:nvSpPr>
          <p:cNvPr id="11" name="TextBox 10">
            <a:extLst>
              <a:ext uri="{FF2B5EF4-FFF2-40B4-BE49-F238E27FC236}">
                <a16:creationId xmlns="" xmlns:a16="http://schemas.microsoft.com/office/drawing/2014/main" id="{24AC94D3-4986-30D1-11CD-2A89675385E3}"/>
              </a:ext>
            </a:extLst>
          </p:cNvPr>
          <p:cNvSpPr txBox="1"/>
          <p:nvPr/>
        </p:nvSpPr>
        <p:spPr>
          <a:xfrm>
            <a:off x="414962" y="1628444"/>
            <a:ext cx="11848813" cy="4834400"/>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Data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Acquisition &amp; Image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Processing  </a:t>
            </a: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Pi Camera captures images, </a:t>
            </a:r>
            <a:r>
              <a:rPr lang="en-IN" sz="2400" dirty="0" err="1" smtClean="0">
                <a:latin typeface="Adobe Caslon Pro Bold" panose="0205070206050A020403" pitchFamily="18" charset="0"/>
                <a:ea typeface="Calibri" panose="020F0502020204030204" pitchFamily="34" charset="0"/>
                <a:cs typeface="Times New Roman" panose="02020603050405020304" pitchFamily="18" charset="0"/>
              </a:rPr>
              <a:t>OpenCV</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processes them.  </a:t>
            </a:r>
          </a:p>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AI-Based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Weed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Detection  </a:t>
            </a:r>
            <a:endParaRPr lang="en-IN" sz="2400" dirty="0">
              <a:latin typeface="Adobe Caslon Pro Bold" panose="0205070206050A020403" pitchFamily="18" charset="0"/>
              <a:ea typeface="Calibri" panose="020F0502020204030204" pitchFamily="34" charset="0"/>
              <a:cs typeface="Times New Roman" panose="02020603050405020304" pitchFamily="18" charset="0"/>
            </a:endParaRP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CNN model (</a:t>
            </a:r>
            <a:r>
              <a:rPr lang="en-IN" sz="2400" dirty="0" err="1">
                <a:latin typeface="Adobe Caslon Pro Bold" panose="0205070206050A020403" pitchFamily="18" charset="0"/>
                <a:ea typeface="Calibri" panose="020F0502020204030204" pitchFamily="34" charset="0"/>
                <a:cs typeface="Times New Roman" panose="02020603050405020304" pitchFamily="18" charset="0"/>
              </a:rPr>
              <a:t>TensorFlow</a:t>
            </a:r>
            <a:r>
              <a:rPr lang="en-IN" sz="2400" dirty="0">
                <a:latin typeface="Adobe Caslon Pro Bold" panose="0205070206050A020403" pitchFamily="18" charset="0"/>
                <a:ea typeface="Calibri" panose="020F0502020204030204" pitchFamily="34" charset="0"/>
                <a:cs typeface="Times New Roman" panose="02020603050405020304" pitchFamily="18" charset="0"/>
              </a:rPr>
              <a:t> </a:t>
            </a:r>
            <a:r>
              <a:rPr lang="en-IN" sz="2400" dirty="0" err="1">
                <a:latin typeface="Adobe Caslon Pro Bold" panose="0205070206050A020403" pitchFamily="18" charset="0"/>
                <a:ea typeface="Calibri" panose="020F0502020204030204" pitchFamily="34" charset="0"/>
                <a:cs typeface="Times New Roman" panose="02020603050405020304" pitchFamily="18" charset="0"/>
              </a:rPr>
              <a:t>Lite</a:t>
            </a:r>
            <a:r>
              <a:rPr lang="en-IN" sz="2400" dirty="0">
                <a:latin typeface="Adobe Caslon Pro Bold" panose="0205070206050A020403" pitchFamily="18" charset="0"/>
                <a:ea typeface="Calibri" panose="020F0502020204030204" pitchFamily="34" charset="0"/>
                <a:cs typeface="Times New Roman" panose="02020603050405020304" pitchFamily="18" charset="0"/>
              </a:rPr>
              <a:t> &amp; </a:t>
            </a:r>
            <a:r>
              <a:rPr lang="en-IN" sz="2400" dirty="0" err="1">
                <a:latin typeface="Adobe Caslon Pro Bold" panose="0205070206050A020403" pitchFamily="18" charset="0"/>
                <a:ea typeface="Calibri" panose="020F0502020204030204" pitchFamily="34" charset="0"/>
                <a:cs typeface="Times New Roman" panose="02020603050405020304" pitchFamily="18" charset="0"/>
              </a:rPr>
              <a:t>Keras</a:t>
            </a:r>
            <a:r>
              <a:rPr lang="en-IN" sz="2400" dirty="0">
                <a:latin typeface="Adobe Caslon Pro Bold" panose="0205070206050A020403" pitchFamily="18" charset="0"/>
                <a:ea typeface="Calibri" panose="020F0502020204030204" pitchFamily="34" charset="0"/>
                <a:cs typeface="Times New Roman" panose="02020603050405020304" pitchFamily="18" charset="0"/>
              </a:rPr>
              <a:t>) classifies weeds and crops.  </a:t>
            </a:r>
          </a:p>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Decision-Making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&amp; Spraying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Control  </a:t>
            </a:r>
            <a:endParaRPr lang="en-IN" sz="2400" dirty="0">
              <a:latin typeface="Adobe Caslon Pro Bold" panose="0205070206050A020403" pitchFamily="18" charset="0"/>
              <a:ea typeface="Calibri" panose="020F0502020204030204" pitchFamily="34" charset="0"/>
              <a:cs typeface="Times New Roman" panose="02020603050405020304" pitchFamily="18" charset="0"/>
            </a:endParaRP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Raspberry Pi activates L293D motor driver for precise herbicide spraying.  </a:t>
            </a:r>
          </a:p>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Autonomous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Mobility &amp; Remote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Control  </a:t>
            </a:r>
            <a:endParaRPr lang="en-IN" sz="2400" dirty="0">
              <a:latin typeface="Adobe Caslon Pro Bold" panose="0205070206050A020403" pitchFamily="18" charset="0"/>
              <a:ea typeface="Calibri" panose="020F0502020204030204" pitchFamily="34" charset="0"/>
              <a:cs typeface="Times New Roman" panose="02020603050405020304" pitchFamily="18" charset="0"/>
            </a:endParaRP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Arduino controls vehicle movement, Bluetooth enables remote monitoring.  </a:t>
            </a:r>
          </a:p>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System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Integration &amp;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Optimization  </a:t>
            </a:r>
            <a:endParaRPr lang="en-IN" sz="2400" dirty="0">
              <a:latin typeface="Adobe Caslon Pro Bold" panose="0205070206050A020403" pitchFamily="18" charset="0"/>
              <a:ea typeface="Calibri" panose="020F0502020204030204" pitchFamily="34" charset="0"/>
              <a:cs typeface="Times New Roman" panose="02020603050405020304" pitchFamily="18" charset="0"/>
            </a:endParaRP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Synchronization between Raspberry Pi &amp; Arduino, optimized power management.  </a:t>
            </a:r>
          </a:p>
          <a:p>
            <a:pPr marL="342900" lvl="0" indent="-342900" algn="just">
              <a:lnSpc>
                <a:spcPct val="107000"/>
              </a:lnSpc>
              <a:buFont typeface="Symbol" panose="05050102010706020507" pitchFamily="18" charset="2"/>
              <a:buChar char=""/>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Performance </a:t>
            </a: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Evaluation  </a:t>
            </a:r>
            <a:endParaRPr lang="en-IN" sz="2400" dirty="0">
              <a:latin typeface="Adobe Caslon Pro Bold" panose="0205070206050A020403" pitchFamily="18" charset="0"/>
              <a:ea typeface="Calibri" panose="020F0502020204030204" pitchFamily="34" charset="0"/>
              <a:cs typeface="Times New Roman" panose="02020603050405020304" pitchFamily="18" charset="0"/>
            </a:endParaRPr>
          </a:p>
          <a:p>
            <a:pPr lvl="0" algn="just">
              <a:lnSpc>
                <a:spcPct val="107000"/>
              </a:lnSpc>
            </a:pPr>
            <a:r>
              <a:rPr lang="en-IN" sz="2400" dirty="0" smtClean="0">
                <a:latin typeface="Adobe Caslon Pro Bold" panose="0205070206050A020403" pitchFamily="18" charset="0"/>
                <a:ea typeface="Calibri" panose="020F0502020204030204" pitchFamily="34" charset="0"/>
                <a:cs typeface="Times New Roman" panose="02020603050405020304" pitchFamily="18" charset="0"/>
              </a:rPr>
              <a:t>	- </a:t>
            </a:r>
            <a:r>
              <a:rPr lang="en-IN" sz="2400" dirty="0">
                <a:latin typeface="Adobe Caslon Pro Bold" panose="0205070206050A020403" pitchFamily="18" charset="0"/>
                <a:ea typeface="Calibri" panose="020F0502020204030204" pitchFamily="34" charset="0"/>
                <a:cs typeface="Times New Roman" panose="02020603050405020304" pitchFamily="18" charset="0"/>
              </a:rPr>
              <a:t>Measured by detection accuracy, herbicide reduction, power efficiency, and speed.</a:t>
            </a:r>
            <a:endParaRPr lang="en-IN" sz="2400" dirty="0">
              <a:effectLst/>
              <a:latin typeface="Adobe Caslon Pro Bold" panose="0205070206050A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85340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70E71CA-7531-E00B-8D5E-CA14C2F37072}"/>
              </a:ext>
            </a:extLst>
          </p:cNvPr>
          <p:cNvSpPr/>
          <p:nvPr/>
        </p:nvSpPr>
        <p:spPr>
          <a:xfrm>
            <a:off x="1560628" y="422255"/>
            <a:ext cx="3980578"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mj-ea"/>
                <a:cs typeface="Times New Roman" panose="02020603050405020304" pitchFamily="18" charset="0"/>
              </a:rPr>
              <a:t>Components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9" name="Group 8">
            <a:extLst>
              <a:ext uri="{FF2B5EF4-FFF2-40B4-BE49-F238E27FC236}">
                <a16:creationId xmlns="" xmlns:a16="http://schemas.microsoft.com/office/drawing/2014/main" id="{EB6D9633-28E6-5E57-3DB7-7BF4E7C85430}"/>
              </a:ext>
            </a:extLst>
          </p:cNvPr>
          <p:cNvGrpSpPr/>
          <p:nvPr/>
        </p:nvGrpSpPr>
        <p:grpSpPr>
          <a:xfrm>
            <a:off x="196757" y="422256"/>
            <a:ext cx="920843" cy="923330"/>
            <a:chOff x="4429760" y="1564640"/>
            <a:chExt cx="1046480" cy="1046480"/>
          </a:xfrm>
        </p:grpSpPr>
        <p:sp>
          <p:nvSpPr>
            <p:cNvPr id="8" name="Oval 7">
              <a:extLst>
                <a:ext uri="{FF2B5EF4-FFF2-40B4-BE49-F238E27FC236}">
                  <a16:creationId xmlns="" xmlns:a16="http://schemas.microsoft.com/office/drawing/2014/main" id="{F858DE1A-BEA6-A74E-2D84-70FE0A52C347}"/>
                </a:ext>
              </a:extLst>
            </p:cNvPr>
            <p:cNvSpPr/>
            <p:nvPr/>
          </p:nvSpPr>
          <p:spPr>
            <a:xfrm>
              <a:off x="4429760" y="1564640"/>
              <a:ext cx="1046480" cy="104648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Graphic 6" descr="Head with gears with solid fill">
              <a:extLst>
                <a:ext uri="{FF2B5EF4-FFF2-40B4-BE49-F238E27FC236}">
                  <a16:creationId xmlns="" xmlns:a16="http://schemas.microsoft.com/office/drawing/2014/main" id="{E9AF585A-F6FD-66D7-6B27-EA6D40561CE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495800" y="1630680"/>
              <a:ext cx="914400" cy="914400"/>
            </a:xfrm>
            <a:prstGeom prst="rect">
              <a:avLst/>
            </a:prstGeom>
          </p:spPr>
        </p:pic>
      </p:grpSp>
      <p:sp>
        <p:nvSpPr>
          <p:cNvPr id="11" name="TextBox 10">
            <a:extLst>
              <a:ext uri="{FF2B5EF4-FFF2-40B4-BE49-F238E27FC236}">
                <a16:creationId xmlns="" xmlns:a16="http://schemas.microsoft.com/office/drawing/2014/main" id="{65BE5A85-E49C-C709-F8F0-790D605B0AD2}"/>
              </a:ext>
            </a:extLst>
          </p:cNvPr>
          <p:cNvSpPr txBox="1"/>
          <p:nvPr/>
        </p:nvSpPr>
        <p:spPr>
          <a:xfrm>
            <a:off x="568960" y="1782356"/>
            <a:ext cx="10779760" cy="400110"/>
          </a:xfrm>
          <a:prstGeom prst="rect">
            <a:avLst/>
          </a:prstGeom>
          <a:noFill/>
        </p:spPr>
        <p:txBody>
          <a:bodyPr wrap="square">
            <a:spAutoFit/>
          </a:bodyPr>
          <a:lstStyle/>
          <a:p>
            <a:endParaRPr lang="en-IN" sz="2000" dirty="0"/>
          </a:p>
        </p:txBody>
      </p:sp>
      <p:pic>
        <p:nvPicPr>
          <p:cNvPr id="3" name="Picture 2"/>
          <p:cNvPicPr>
            <a:picLocks noChangeAspect="1"/>
          </p:cNvPicPr>
          <p:nvPr/>
        </p:nvPicPr>
        <p:blipFill rotWithShape="1">
          <a:blip r:embed="rId4" cstate="print">
            <a:extLst>
              <a:ext uri="{28A0092B-C50C-407E-A947-70E740481C1C}">
                <a14:useLocalDpi xmlns:a14="http://schemas.microsoft.com/office/drawing/2010/main" val="0"/>
              </a:ext>
            </a:extLst>
          </a:blip>
          <a:srcRect l="27448" t="11247" r="32073"/>
          <a:stretch/>
        </p:blipFill>
        <p:spPr>
          <a:xfrm>
            <a:off x="1828799" y="1650381"/>
            <a:ext cx="1469645" cy="2154917"/>
          </a:xfrm>
          <a:prstGeom prst="rect">
            <a:avLst/>
          </a:prstGeom>
        </p:spPr>
      </p:pic>
      <p:sp>
        <p:nvSpPr>
          <p:cNvPr id="13" name="Rectangle 12"/>
          <p:cNvSpPr/>
          <p:nvPr/>
        </p:nvSpPr>
        <p:spPr>
          <a:xfrm>
            <a:off x="568960" y="4401158"/>
            <a:ext cx="6096000" cy="1200329"/>
          </a:xfrm>
          <a:prstGeom prst="rect">
            <a:avLst/>
          </a:prstGeom>
        </p:spPr>
        <p:txBody>
          <a:bodyPr>
            <a:spAutoFit/>
          </a:bodyPr>
          <a:lstStyle/>
          <a:p>
            <a:pPr marL="285750" indent="-285750">
              <a:buFontTx/>
              <a:buChar char="-"/>
            </a:pPr>
            <a:r>
              <a:rPr lang="en-IN" dirty="0" smtClean="0">
                <a:latin typeface="Adobe Garamond Pro Bold" panose="02020702060506020403" pitchFamily="18" charset="0"/>
              </a:rPr>
              <a:t>Raspberry </a:t>
            </a:r>
            <a:r>
              <a:rPr lang="en-IN" dirty="0">
                <a:latin typeface="Adobe Garamond Pro Bold" panose="02020702060506020403" pitchFamily="18" charset="0"/>
              </a:rPr>
              <a:t>Pi Camera </a:t>
            </a:r>
            <a:r>
              <a:rPr lang="en-IN" dirty="0" smtClean="0">
                <a:latin typeface="Adobe Garamond Pro Bold" panose="02020702060506020403" pitchFamily="18" charset="0"/>
              </a:rPr>
              <a:t>Module </a:t>
            </a:r>
            <a:r>
              <a:rPr lang="en-IN" dirty="0">
                <a:latin typeface="Adobe Garamond Pro Bold" panose="02020702060506020403" pitchFamily="18" charset="0"/>
              </a:rPr>
              <a:t>for image and video capture.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Connects </a:t>
            </a:r>
            <a:r>
              <a:rPr lang="en-IN" dirty="0">
                <a:latin typeface="Adobe Garamond Pro Bold" panose="02020702060506020403" pitchFamily="18" charset="0"/>
              </a:rPr>
              <a:t>via </a:t>
            </a:r>
            <a:r>
              <a:rPr lang="en-IN" dirty="0" smtClean="0">
                <a:latin typeface="Adobe Garamond Pro Bold" panose="02020702060506020403" pitchFamily="18" charset="0"/>
              </a:rPr>
              <a:t>CSI </a:t>
            </a:r>
            <a:r>
              <a:rPr lang="en-IN" dirty="0">
                <a:latin typeface="Adobe Garamond Pro Bold" panose="02020702060506020403" pitchFamily="18" charset="0"/>
              </a:rPr>
              <a:t>(Camera Serial Interface</a:t>
            </a:r>
            <a:r>
              <a:rPr lang="en-IN" dirty="0" smtClean="0">
                <a:latin typeface="Adobe Garamond Pro Bold" panose="02020702060506020403" pitchFamily="18" charset="0"/>
              </a:rPr>
              <a:t>).  </a:t>
            </a:r>
          </a:p>
          <a:p>
            <a:pPr marL="285750" indent="-285750">
              <a:buFontTx/>
              <a:buChar char="-"/>
            </a:pPr>
            <a:r>
              <a:rPr lang="en-IN" dirty="0" smtClean="0">
                <a:latin typeface="Adobe Garamond Pro Bold" panose="02020702060506020403" pitchFamily="18" charset="0"/>
              </a:rPr>
              <a:t>Supports 5MP</a:t>
            </a:r>
            <a:r>
              <a:rPr lang="en-IN" dirty="0">
                <a:latin typeface="Adobe Garamond Pro Bold" panose="02020702060506020403" pitchFamily="18" charset="0"/>
              </a:rPr>
              <a:t>, 8MP, or </a:t>
            </a:r>
            <a:r>
              <a:rPr lang="en-IN" dirty="0" smtClean="0">
                <a:latin typeface="Adobe Garamond Pro Bold" panose="02020702060506020403" pitchFamily="18" charset="0"/>
              </a:rPr>
              <a:t>12MP </a:t>
            </a:r>
            <a:r>
              <a:rPr lang="en-IN" dirty="0">
                <a:latin typeface="Adobe Garamond Pro Bold" panose="02020702060506020403" pitchFamily="18" charset="0"/>
              </a:rPr>
              <a:t>sensors.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Used </a:t>
            </a:r>
            <a:r>
              <a:rPr lang="en-IN" dirty="0">
                <a:latin typeface="Adobe Garamond Pro Bold" panose="02020702060506020403" pitchFamily="18" charset="0"/>
              </a:rPr>
              <a:t>for </a:t>
            </a:r>
            <a:r>
              <a:rPr lang="en-IN" dirty="0" smtClean="0">
                <a:latin typeface="Adobe Garamond Pro Bold" panose="02020702060506020403" pitchFamily="18" charset="0"/>
              </a:rPr>
              <a:t>computer </a:t>
            </a:r>
            <a:r>
              <a:rPr lang="en-IN" dirty="0">
                <a:latin typeface="Adobe Garamond Pro Bold" panose="02020702060506020403" pitchFamily="18" charset="0"/>
              </a:rPr>
              <a:t>vision, surveillance, and AI </a:t>
            </a:r>
            <a:r>
              <a:rPr lang="en-IN" dirty="0" smtClean="0">
                <a:latin typeface="Adobe Garamond Pro Bold" panose="02020702060506020403" pitchFamily="18" charset="0"/>
              </a:rPr>
              <a:t>projects.</a:t>
            </a:r>
            <a:endParaRPr lang="en-IN" dirty="0">
              <a:latin typeface="Adobe Garamond Pro Bold" panose="02020702060506020403" pitchFamily="18" charset="0"/>
            </a:endParaRPr>
          </a:p>
        </p:txBody>
      </p:sp>
      <p:sp>
        <p:nvSpPr>
          <p:cNvPr id="14" name="Rectangle 13"/>
          <p:cNvSpPr/>
          <p:nvPr/>
        </p:nvSpPr>
        <p:spPr>
          <a:xfrm>
            <a:off x="6096000" y="1982411"/>
            <a:ext cx="6096000" cy="1200329"/>
          </a:xfrm>
          <a:prstGeom prst="rect">
            <a:avLst/>
          </a:prstGeom>
        </p:spPr>
        <p:txBody>
          <a:bodyPr>
            <a:spAutoFit/>
          </a:bodyPr>
          <a:lstStyle/>
          <a:p>
            <a:pPr marL="285750" indent="-285750">
              <a:buFontTx/>
              <a:buChar char="-"/>
            </a:pPr>
            <a:r>
              <a:rPr lang="en-IN" dirty="0" smtClean="0">
                <a:latin typeface="Adobe Garamond Pro Bold" panose="02020702060506020403" pitchFamily="18" charset="0"/>
              </a:rPr>
              <a:t>Raspberry </a:t>
            </a:r>
            <a:r>
              <a:rPr lang="en-IN" dirty="0">
                <a:latin typeface="Adobe Garamond Pro Bold" panose="02020702060506020403" pitchFamily="18" charset="0"/>
              </a:rPr>
              <a:t>Pi 4 Model </a:t>
            </a:r>
            <a:r>
              <a:rPr lang="en-IN" dirty="0" smtClean="0">
                <a:latin typeface="Adobe Garamond Pro Bold" panose="02020702060506020403" pitchFamily="18" charset="0"/>
              </a:rPr>
              <a:t>B </a:t>
            </a:r>
            <a:r>
              <a:rPr lang="en-IN" dirty="0">
                <a:latin typeface="Adobe Garamond Pro Bold" panose="02020702060506020403" pitchFamily="18" charset="0"/>
              </a:rPr>
              <a:t>is a single-board computer.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Comes </a:t>
            </a:r>
            <a:r>
              <a:rPr lang="en-IN" dirty="0">
                <a:latin typeface="Adobe Garamond Pro Bold" panose="02020702060506020403" pitchFamily="18" charset="0"/>
              </a:rPr>
              <a:t>with </a:t>
            </a:r>
            <a:r>
              <a:rPr lang="en-IN" dirty="0" smtClean="0">
                <a:latin typeface="Adobe Garamond Pro Bold" panose="02020702060506020403" pitchFamily="18" charset="0"/>
              </a:rPr>
              <a:t>1GB</a:t>
            </a:r>
            <a:r>
              <a:rPr lang="en-IN" dirty="0">
                <a:latin typeface="Adobe Garamond Pro Bold" panose="02020702060506020403" pitchFamily="18" charset="0"/>
              </a:rPr>
              <a:t>, 2GB, 4GB, or 8GB </a:t>
            </a:r>
            <a:r>
              <a:rPr lang="en-IN" dirty="0" smtClean="0">
                <a:latin typeface="Adobe Garamond Pro Bold" panose="02020702060506020403" pitchFamily="18" charset="0"/>
              </a:rPr>
              <a:t>RAM </a:t>
            </a:r>
            <a:r>
              <a:rPr lang="en-IN" dirty="0">
                <a:latin typeface="Adobe Garamond Pro Bold" panose="02020702060506020403" pitchFamily="18" charset="0"/>
              </a:rPr>
              <a:t>options.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Features Quad-core </a:t>
            </a:r>
            <a:r>
              <a:rPr lang="en-IN" dirty="0">
                <a:latin typeface="Adobe Garamond Pro Bold" panose="02020702060506020403" pitchFamily="18" charset="0"/>
              </a:rPr>
              <a:t>Cortex-A72, </a:t>
            </a:r>
            <a:r>
              <a:rPr lang="en-IN" dirty="0" smtClean="0">
                <a:latin typeface="Adobe Garamond Pro Bold" panose="02020702060506020403" pitchFamily="18" charset="0"/>
              </a:rPr>
              <a:t>1.5GHz </a:t>
            </a:r>
            <a:r>
              <a:rPr lang="en-IN" dirty="0">
                <a:latin typeface="Adobe Garamond Pro Bold" panose="02020702060506020403" pitchFamily="18" charset="0"/>
              </a:rPr>
              <a:t>CPU.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Supports dual </a:t>
            </a:r>
            <a:r>
              <a:rPr lang="en-IN" dirty="0">
                <a:latin typeface="Adobe Garamond Pro Bold" panose="02020702060506020403" pitchFamily="18" charset="0"/>
              </a:rPr>
              <a:t>4K HDMI, USB 3.0, and Gigabit </a:t>
            </a:r>
            <a:r>
              <a:rPr lang="en-IN" dirty="0" smtClean="0">
                <a:latin typeface="Adobe Garamond Pro Bold" panose="02020702060506020403" pitchFamily="18" charset="0"/>
              </a:rPr>
              <a:t>Ethernet.</a:t>
            </a:r>
            <a:endParaRPr lang="en-IN" dirty="0">
              <a:latin typeface="Adobe Garamond Pro Bold" panose="02020702060506020403" pitchFamily="18"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22427" y="3805298"/>
            <a:ext cx="3245574" cy="1934260"/>
          </a:xfrm>
          <a:prstGeom prst="rect">
            <a:avLst/>
          </a:prstGeom>
        </p:spPr>
      </p:pic>
    </p:spTree>
    <p:extLst>
      <p:ext uri="{BB962C8B-B14F-4D97-AF65-F5344CB8AC3E}">
        <p14:creationId xmlns:p14="http://schemas.microsoft.com/office/powerpoint/2010/main" val="30817877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70E71CA-7531-E00B-8D5E-CA14C2F37072}"/>
              </a:ext>
            </a:extLst>
          </p:cNvPr>
          <p:cNvSpPr/>
          <p:nvPr/>
        </p:nvSpPr>
        <p:spPr>
          <a:xfrm>
            <a:off x="1560628" y="422255"/>
            <a:ext cx="3980578"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mj-ea"/>
                <a:cs typeface="Times New Roman" panose="02020603050405020304" pitchFamily="18" charset="0"/>
              </a:rPr>
              <a:t>Components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9" name="Group 8">
            <a:extLst>
              <a:ext uri="{FF2B5EF4-FFF2-40B4-BE49-F238E27FC236}">
                <a16:creationId xmlns="" xmlns:a16="http://schemas.microsoft.com/office/drawing/2014/main" id="{EB6D9633-28E6-5E57-3DB7-7BF4E7C85430}"/>
              </a:ext>
            </a:extLst>
          </p:cNvPr>
          <p:cNvGrpSpPr/>
          <p:nvPr/>
        </p:nvGrpSpPr>
        <p:grpSpPr>
          <a:xfrm>
            <a:off x="196757" y="422256"/>
            <a:ext cx="920843" cy="923330"/>
            <a:chOff x="4429760" y="1564640"/>
            <a:chExt cx="1046480" cy="1046480"/>
          </a:xfrm>
        </p:grpSpPr>
        <p:sp>
          <p:nvSpPr>
            <p:cNvPr id="8" name="Oval 7">
              <a:extLst>
                <a:ext uri="{FF2B5EF4-FFF2-40B4-BE49-F238E27FC236}">
                  <a16:creationId xmlns="" xmlns:a16="http://schemas.microsoft.com/office/drawing/2014/main" id="{F858DE1A-BEA6-A74E-2D84-70FE0A52C347}"/>
                </a:ext>
              </a:extLst>
            </p:cNvPr>
            <p:cNvSpPr/>
            <p:nvPr/>
          </p:nvSpPr>
          <p:spPr>
            <a:xfrm>
              <a:off x="4429760" y="1564640"/>
              <a:ext cx="1046480" cy="104648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Graphic 6" descr="Head with gears with solid fill">
              <a:extLst>
                <a:ext uri="{FF2B5EF4-FFF2-40B4-BE49-F238E27FC236}">
                  <a16:creationId xmlns="" xmlns:a16="http://schemas.microsoft.com/office/drawing/2014/main" id="{E9AF585A-F6FD-66D7-6B27-EA6D40561CE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495800" y="1630680"/>
              <a:ext cx="914400" cy="914400"/>
            </a:xfrm>
            <a:prstGeom prst="rect">
              <a:avLst/>
            </a:prstGeom>
          </p:spPr>
        </p:pic>
      </p:grpSp>
      <p:sp>
        <p:nvSpPr>
          <p:cNvPr id="11" name="TextBox 10">
            <a:extLst>
              <a:ext uri="{FF2B5EF4-FFF2-40B4-BE49-F238E27FC236}">
                <a16:creationId xmlns="" xmlns:a16="http://schemas.microsoft.com/office/drawing/2014/main" id="{65BE5A85-E49C-C709-F8F0-790D605B0AD2}"/>
              </a:ext>
            </a:extLst>
          </p:cNvPr>
          <p:cNvSpPr txBox="1"/>
          <p:nvPr/>
        </p:nvSpPr>
        <p:spPr>
          <a:xfrm>
            <a:off x="568960" y="1782356"/>
            <a:ext cx="10779760" cy="400110"/>
          </a:xfrm>
          <a:prstGeom prst="rect">
            <a:avLst/>
          </a:prstGeom>
          <a:noFill/>
        </p:spPr>
        <p:txBody>
          <a:bodyPr wrap="square">
            <a:spAutoFit/>
          </a:bodyPr>
          <a:lstStyle/>
          <a:p>
            <a:endParaRPr lang="en-IN" sz="2000" dirty="0"/>
          </a:p>
        </p:txBody>
      </p:sp>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rcRect l="-6940" t="18601" r="6940" b="5795"/>
          <a:stretch/>
        </p:blipFill>
        <p:spPr>
          <a:xfrm>
            <a:off x="1059488" y="1782356"/>
            <a:ext cx="2446759" cy="1849862"/>
          </a:xfrm>
          <a:prstGeom prst="rect">
            <a:avLst/>
          </a:prstGeom>
        </p:spPr>
      </p:pic>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l="7589" t="4302" r="6267" b="8577"/>
          <a:stretch/>
        </p:blipFill>
        <p:spPr>
          <a:xfrm>
            <a:off x="8221865" y="3650947"/>
            <a:ext cx="2607206" cy="2319454"/>
          </a:xfrm>
          <a:prstGeom prst="rect">
            <a:avLst/>
          </a:prstGeom>
        </p:spPr>
      </p:pic>
      <p:sp>
        <p:nvSpPr>
          <p:cNvPr id="2" name="Rectangle 1"/>
          <p:cNvSpPr/>
          <p:nvPr/>
        </p:nvSpPr>
        <p:spPr>
          <a:xfrm>
            <a:off x="458247" y="4657636"/>
            <a:ext cx="6096000" cy="1200329"/>
          </a:xfrm>
          <a:prstGeom prst="rect">
            <a:avLst/>
          </a:prstGeom>
        </p:spPr>
        <p:txBody>
          <a:bodyPr>
            <a:spAutoFit/>
          </a:bodyPr>
          <a:lstStyle/>
          <a:p>
            <a:pPr marL="285750" indent="-285750">
              <a:buFontTx/>
              <a:buChar char="-"/>
            </a:pPr>
            <a:r>
              <a:rPr lang="en-US" dirty="0" smtClean="0">
                <a:latin typeface="Adobe Garamond Pro Bold" panose="02020702060506020403" pitchFamily="18" charset="0"/>
              </a:rPr>
              <a:t>Gear motor </a:t>
            </a:r>
            <a:r>
              <a:rPr lang="en-US" dirty="0">
                <a:latin typeface="Adobe Garamond Pro Bold" panose="02020702060506020403" pitchFamily="18" charset="0"/>
              </a:rPr>
              <a:t>combines a </a:t>
            </a:r>
            <a:r>
              <a:rPr lang="en-US" dirty="0" smtClean="0">
                <a:latin typeface="Adobe Garamond Pro Bold" panose="02020702060506020403" pitchFamily="18" charset="0"/>
              </a:rPr>
              <a:t>DC motor </a:t>
            </a:r>
            <a:r>
              <a:rPr lang="en-US" dirty="0">
                <a:latin typeface="Adobe Garamond Pro Bold" panose="02020702060506020403" pitchFamily="18" charset="0"/>
              </a:rPr>
              <a:t>with a </a:t>
            </a:r>
            <a:r>
              <a:rPr lang="en-US" dirty="0" smtClean="0">
                <a:latin typeface="Adobe Garamond Pro Bold" panose="02020702060506020403" pitchFamily="18" charset="0"/>
              </a:rPr>
              <a:t>gearbox. </a:t>
            </a:r>
          </a:p>
          <a:p>
            <a:pPr marL="285750" indent="-285750">
              <a:buFontTx/>
              <a:buChar char="-"/>
            </a:pPr>
            <a:r>
              <a:rPr lang="en-US" dirty="0" smtClean="0">
                <a:latin typeface="Adobe Garamond Pro Bold" panose="02020702060506020403" pitchFamily="18" charset="0"/>
              </a:rPr>
              <a:t>Provides high torque </a:t>
            </a:r>
            <a:r>
              <a:rPr lang="en-US" dirty="0">
                <a:latin typeface="Adobe Garamond Pro Bold" panose="02020702060506020403" pitchFamily="18" charset="0"/>
              </a:rPr>
              <a:t>at </a:t>
            </a:r>
            <a:r>
              <a:rPr lang="en-US" dirty="0" smtClean="0">
                <a:latin typeface="Adobe Garamond Pro Bold" panose="02020702060506020403" pitchFamily="18" charset="0"/>
              </a:rPr>
              <a:t>low speeds.  </a:t>
            </a:r>
          </a:p>
          <a:p>
            <a:pPr marL="285750" indent="-285750">
              <a:buFontTx/>
              <a:buChar char="-"/>
            </a:pPr>
            <a:r>
              <a:rPr lang="en-US" dirty="0" smtClean="0">
                <a:latin typeface="Adobe Garamond Pro Bold" panose="02020702060506020403" pitchFamily="18" charset="0"/>
              </a:rPr>
              <a:t>Used </a:t>
            </a:r>
            <a:r>
              <a:rPr lang="en-US" dirty="0">
                <a:latin typeface="Adobe Garamond Pro Bold" panose="02020702060506020403" pitchFamily="18" charset="0"/>
              </a:rPr>
              <a:t>in </a:t>
            </a:r>
            <a:r>
              <a:rPr lang="en-US" dirty="0" smtClean="0">
                <a:latin typeface="Adobe Garamond Pro Bold" panose="02020702060506020403" pitchFamily="18" charset="0"/>
              </a:rPr>
              <a:t>robots</a:t>
            </a:r>
            <a:r>
              <a:rPr lang="en-US" dirty="0">
                <a:latin typeface="Adobe Garamond Pro Bold" panose="02020702060506020403" pitchFamily="18" charset="0"/>
              </a:rPr>
              <a:t>, conveyors, and </a:t>
            </a:r>
            <a:r>
              <a:rPr lang="en-US" dirty="0" smtClean="0">
                <a:latin typeface="Adobe Garamond Pro Bold" panose="02020702060506020403" pitchFamily="18" charset="0"/>
              </a:rPr>
              <a:t>automation.  </a:t>
            </a:r>
          </a:p>
          <a:p>
            <a:pPr marL="285750" indent="-285750">
              <a:buFontTx/>
              <a:buChar char="-"/>
            </a:pPr>
            <a:r>
              <a:rPr lang="en-US" dirty="0" smtClean="0">
                <a:latin typeface="Adobe Garamond Pro Bold" panose="02020702060506020403" pitchFamily="18" charset="0"/>
              </a:rPr>
              <a:t>Available </a:t>
            </a:r>
            <a:r>
              <a:rPr lang="en-US" dirty="0">
                <a:latin typeface="Adobe Garamond Pro Bold" panose="02020702060506020403" pitchFamily="18" charset="0"/>
              </a:rPr>
              <a:t>in </a:t>
            </a:r>
            <a:r>
              <a:rPr lang="en-US" dirty="0" smtClean="0">
                <a:latin typeface="Adobe Garamond Pro Bold" panose="02020702060506020403" pitchFamily="18" charset="0"/>
              </a:rPr>
              <a:t>various </a:t>
            </a:r>
            <a:r>
              <a:rPr lang="en-US" dirty="0">
                <a:latin typeface="Adobe Garamond Pro Bold" panose="02020702060506020403" pitchFamily="18" charset="0"/>
              </a:rPr>
              <a:t>RPM and voltage </a:t>
            </a:r>
            <a:r>
              <a:rPr lang="en-US" dirty="0" smtClean="0">
                <a:latin typeface="Adobe Garamond Pro Bold" panose="02020702060506020403" pitchFamily="18" charset="0"/>
              </a:rPr>
              <a:t>ratings.</a:t>
            </a:r>
            <a:endParaRPr lang="en-IN" dirty="0">
              <a:latin typeface="Adobe Garamond Pro Bold" panose="02020702060506020403" pitchFamily="18" charset="0"/>
            </a:endParaRPr>
          </a:p>
        </p:txBody>
      </p:sp>
      <p:sp>
        <p:nvSpPr>
          <p:cNvPr id="12" name="Rectangle 11"/>
          <p:cNvSpPr/>
          <p:nvPr/>
        </p:nvSpPr>
        <p:spPr>
          <a:xfrm>
            <a:off x="6237249" y="1937909"/>
            <a:ext cx="6096000" cy="1200329"/>
          </a:xfrm>
          <a:prstGeom prst="rect">
            <a:avLst/>
          </a:prstGeom>
        </p:spPr>
        <p:txBody>
          <a:bodyPr>
            <a:spAutoFit/>
          </a:bodyPr>
          <a:lstStyle/>
          <a:p>
            <a:pPr marL="285750" indent="-285750">
              <a:buFontTx/>
              <a:buChar char="-"/>
            </a:pPr>
            <a:r>
              <a:rPr lang="en-IN" dirty="0" smtClean="0">
                <a:latin typeface="Adobe Garamond Pro Bold" panose="02020702060506020403" pitchFamily="18" charset="0"/>
              </a:rPr>
              <a:t>Compact </a:t>
            </a:r>
            <a:r>
              <a:rPr lang="en-IN" dirty="0">
                <a:latin typeface="Adobe Garamond Pro Bold" panose="02020702060506020403" pitchFamily="18" charset="0"/>
              </a:rPr>
              <a:t>and lightweight microcontroller board.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Based </a:t>
            </a:r>
            <a:r>
              <a:rPr lang="en-IN" dirty="0">
                <a:latin typeface="Adobe Garamond Pro Bold" panose="02020702060506020403" pitchFamily="18" charset="0"/>
              </a:rPr>
              <a:t>on </a:t>
            </a:r>
            <a:r>
              <a:rPr lang="en-IN" dirty="0" smtClean="0">
                <a:latin typeface="Adobe Garamond Pro Bold" panose="02020702060506020403" pitchFamily="18" charset="0"/>
              </a:rPr>
              <a:t>ATmega328P</a:t>
            </a:r>
            <a:r>
              <a:rPr lang="en-IN" dirty="0">
                <a:latin typeface="Adobe Garamond Pro Bold" panose="02020702060506020403" pitchFamily="18" charset="0"/>
              </a:rPr>
              <a:t>, operates at </a:t>
            </a:r>
            <a:r>
              <a:rPr lang="en-IN" dirty="0" smtClean="0">
                <a:latin typeface="Adobe Garamond Pro Bold" panose="02020702060506020403" pitchFamily="18" charset="0"/>
              </a:rPr>
              <a:t>5V</a:t>
            </a:r>
            <a:r>
              <a:rPr lang="en-IN" dirty="0">
                <a:latin typeface="Adobe Garamond Pro Bold" panose="02020702060506020403" pitchFamily="18" charset="0"/>
              </a:rPr>
              <a:t>, </a:t>
            </a:r>
            <a:r>
              <a:rPr lang="en-IN" dirty="0" smtClean="0">
                <a:latin typeface="Adobe Garamond Pro Bold" panose="02020702060506020403" pitchFamily="18" charset="0"/>
              </a:rPr>
              <a:t>16MHz.  </a:t>
            </a:r>
            <a:endParaRPr lang="en-IN" dirty="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Mini USB </a:t>
            </a:r>
            <a:r>
              <a:rPr lang="en-IN" dirty="0">
                <a:latin typeface="Adobe Garamond Pro Bold" panose="02020702060506020403" pitchFamily="18" charset="0"/>
              </a:rPr>
              <a:t>for programming and power.  </a:t>
            </a:r>
          </a:p>
          <a:p>
            <a:pPr marL="285750" indent="-285750">
              <a:buFontTx/>
              <a:buChar char="-"/>
            </a:pPr>
            <a:r>
              <a:rPr lang="en-IN" dirty="0" smtClean="0">
                <a:latin typeface="Adobe Garamond Pro Bold" panose="02020702060506020403" pitchFamily="18" charset="0"/>
              </a:rPr>
              <a:t>14 </a:t>
            </a:r>
            <a:r>
              <a:rPr lang="en-IN" dirty="0">
                <a:latin typeface="Adobe Garamond Pro Bold" panose="02020702060506020403" pitchFamily="18" charset="0"/>
              </a:rPr>
              <a:t>digital </a:t>
            </a:r>
            <a:r>
              <a:rPr lang="en-IN" dirty="0" smtClean="0">
                <a:latin typeface="Adobe Garamond Pro Bold" panose="02020702060506020403" pitchFamily="18" charset="0"/>
              </a:rPr>
              <a:t>I/O </a:t>
            </a:r>
            <a:r>
              <a:rPr lang="en-IN" dirty="0">
                <a:latin typeface="Adobe Garamond Pro Bold" panose="02020702060506020403" pitchFamily="18" charset="0"/>
              </a:rPr>
              <a:t>(6 PWM) and </a:t>
            </a:r>
            <a:r>
              <a:rPr lang="en-IN" dirty="0" smtClean="0">
                <a:latin typeface="Adobe Garamond Pro Bold" panose="02020702060506020403" pitchFamily="18" charset="0"/>
              </a:rPr>
              <a:t>8 </a:t>
            </a:r>
            <a:r>
              <a:rPr lang="en-IN" dirty="0" err="1">
                <a:latin typeface="Adobe Garamond Pro Bold" panose="02020702060506020403" pitchFamily="18" charset="0"/>
              </a:rPr>
              <a:t>analog</a:t>
            </a:r>
            <a:r>
              <a:rPr lang="en-IN" dirty="0">
                <a:latin typeface="Adobe Garamond Pro Bold" panose="02020702060506020403" pitchFamily="18" charset="0"/>
              </a:rPr>
              <a:t> </a:t>
            </a:r>
            <a:r>
              <a:rPr lang="en-IN" dirty="0" smtClean="0">
                <a:latin typeface="Adobe Garamond Pro Bold" panose="02020702060506020403" pitchFamily="18" charset="0"/>
              </a:rPr>
              <a:t>inputs.</a:t>
            </a:r>
            <a:endParaRPr lang="en-IN" dirty="0">
              <a:latin typeface="Adobe Garamond Pro Bold" panose="02020702060506020403" pitchFamily="18" charset="0"/>
            </a:endParaRPr>
          </a:p>
        </p:txBody>
      </p:sp>
    </p:spTree>
    <p:extLst>
      <p:ext uri="{BB962C8B-B14F-4D97-AF65-F5344CB8AC3E}">
        <p14:creationId xmlns:p14="http://schemas.microsoft.com/office/powerpoint/2010/main" val="4737193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70E71CA-7531-E00B-8D5E-CA14C2F37072}"/>
              </a:ext>
            </a:extLst>
          </p:cNvPr>
          <p:cNvSpPr/>
          <p:nvPr/>
        </p:nvSpPr>
        <p:spPr>
          <a:xfrm>
            <a:off x="1560628" y="422255"/>
            <a:ext cx="3980578"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mj-ea"/>
                <a:cs typeface="Times New Roman" panose="02020603050405020304" pitchFamily="18" charset="0"/>
              </a:rPr>
              <a:t>Components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9" name="Group 8">
            <a:extLst>
              <a:ext uri="{FF2B5EF4-FFF2-40B4-BE49-F238E27FC236}">
                <a16:creationId xmlns="" xmlns:a16="http://schemas.microsoft.com/office/drawing/2014/main" id="{EB6D9633-28E6-5E57-3DB7-7BF4E7C85430}"/>
              </a:ext>
            </a:extLst>
          </p:cNvPr>
          <p:cNvGrpSpPr/>
          <p:nvPr/>
        </p:nvGrpSpPr>
        <p:grpSpPr>
          <a:xfrm>
            <a:off x="196757" y="422256"/>
            <a:ext cx="920843" cy="923330"/>
            <a:chOff x="4429760" y="1564640"/>
            <a:chExt cx="1046480" cy="1046480"/>
          </a:xfrm>
        </p:grpSpPr>
        <p:sp>
          <p:nvSpPr>
            <p:cNvPr id="8" name="Oval 7">
              <a:extLst>
                <a:ext uri="{FF2B5EF4-FFF2-40B4-BE49-F238E27FC236}">
                  <a16:creationId xmlns="" xmlns:a16="http://schemas.microsoft.com/office/drawing/2014/main" id="{F858DE1A-BEA6-A74E-2D84-70FE0A52C347}"/>
                </a:ext>
              </a:extLst>
            </p:cNvPr>
            <p:cNvSpPr/>
            <p:nvPr/>
          </p:nvSpPr>
          <p:spPr>
            <a:xfrm>
              <a:off x="4429760" y="1564640"/>
              <a:ext cx="1046480" cy="104648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Graphic 6" descr="Head with gears with solid fill">
              <a:extLst>
                <a:ext uri="{FF2B5EF4-FFF2-40B4-BE49-F238E27FC236}">
                  <a16:creationId xmlns="" xmlns:a16="http://schemas.microsoft.com/office/drawing/2014/main" id="{E9AF585A-F6FD-66D7-6B27-EA6D40561CE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495800" y="1630680"/>
              <a:ext cx="914400" cy="914400"/>
            </a:xfrm>
            <a:prstGeom prst="rect">
              <a:avLst/>
            </a:prstGeom>
          </p:spPr>
        </p:pic>
      </p:grpSp>
      <p:sp>
        <p:nvSpPr>
          <p:cNvPr id="11" name="TextBox 10">
            <a:extLst>
              <a:ext uri="{FF2B5EF4-FFF2-40B4-BE49-F238E27FC236}">
                <a16:creationId xmlns="" xmlns:a16="http://schemas.microsoft.com/office/drawing/2014/main" id="{65BE5A85-E49C-C709-F8F0-790D605B0AD2}"/>
              </a:ext>
            </a:extLst>
          </p:cNvPr>
          <p:cNvSpPr txBox="1"/>
          <p:nvPr/>
        </p:nvSpPr>
        <p:spPr>
          <a:xfrm>
            <a:off x="568960" y="1782356"/>
            <a:ext cx="10779760" cy="400110"/>
          </a:xfrm>
          <a:prstGeom prst="rect">
            <a:avLst/>
          </a:prstGeom>
          <a:noFill/>
        </p:spPr>
        <p:txBody>
          <a:bodyPr wrap="square">
            <a:spAutoFit/>
          </a:bodyPr>
          <a:lstStyle/>
          <a:p>
            <a:endParaRPr lang="en-IN" sz="20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488" y="2182465"/>
            <a:ext cx="2028160" cy="1486285"/>
          </a:xfrm>
          <a:prstGeom prst="rect">
            <a:avLst/>
          </a:prstGeom>
        </p:spPr>
      </p:pic>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l="12240" t="22979" r="12313" b="20305"/>
          <a:stretch/>
        </p:blipFill>
        <p:spPr>
          <a:xfrm>
            <a:off x="8327349" y="4004551"/>
            <a:ext cx="2202454" cy="1655638"/>
          </a:xfrm>
          <a:prstGeom prst="rect">
            <a:avLst/>
          </a:prstGeom>
        </p:spPr>
      </p:pic>
      <p:sp>
        <p:nvSpPr>
          <p:cNvPr id="10" name="Rectangle 9"/>
          <p:cNvSpPr/>
          <p:nvPr/>
        </p:nvSpPr>
        <p:spPr>
          <a:xfrm>
            <a:off x="450385" y="4232206"/>
            <a:ext cx="5883740" cy="1200329"/>
          </a:xfrm>
          <a:prstGeom prst="rect">
            <a:avLst/>
          </a:prstGeom>
        </p:spPr>
        <p:txBody>
          <a:bodyPr wrap="square">
            <a:spAutoFit/>
          </a:bodyPr>
          <a:lstStyle/>
          <a:p>
            <a:pPr marL="285750" indent="-285750">
              <a:buFontTx/>
              <a:buChar char="-"/>
            </a:pPr>
            <a:r>
              <a:rPr lang="en-IN" dirty="0" smtClean="0">
                <a:latin typeface="Adobe Garamond Pro Bold" panose="02020702060506020403" pitchFamily="18" charset="0"/>
              </a:rPr>
              <a:t>HC-05 </a:t>
            </a:r>
            <a:r>
              <a:rPr lang="en-IN" dirty="0">
                <a:latin typeface="Adobe Garamond Pro Bold" panose="02020702060506020403" pitchFamily="18" charset="0"/>
              </a:rPr>
              <a:t>Bluetooth module for wireless communication.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Supports </a:t>
            </a:r>
            <a:r>
              <a:rPr lang="en-IN" dirty="0">
                <a:latin typeface="Adobe Garamond Pro Bold" panose="02020702060506020403" pitchFamily="18" charset="0"/>
              </a:rPr>
              <a:t>Master/Slave mode, uses UART (Rx/</a:t>
            </a:r>
            <a:r>
              <a:rPr lang="en-IN" dirty="0" err="1">
                <a:latin typeface="Adobe Garamond Pro Bold" panose="02020702060506020403" pitchFamily="18" charset="0"/>
              </a:rPr>
              <a:t>Tx</a:t>
            </a:r>
            <a:r>
              <a:rPr lang="en-IN" dirty="0">
                <a:latin typeface="Adobe Garamond Pro Bold" panose="02020702060506020403" pitchFamily="18" charset="0"/>
              </a:rPr>
              <a:t>).  </a:t>
            </a:r>
            <a:endParaRPr lang="en-IN" dirty="0" smtClean="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Works </a:t>
            </a:r>
            <a:r>
              <a:rPr lang="en-IN" dirty="0">
                <a:latin typeface="Adobe Garamond Pro Bold" panose="02020702060506020403" pitchFamily="18" charset="0"/>
              </a:rPr>
              <a:t>on Bluetooth 2.0 + EDR, ~10m range.  </a:t>
            </a:r>
            <a:endParaRPr lang="en-IN" dirty="0">
              <a:latin typeface="Adobe Garamond Pro Bold" panose="02020702060506020403" pitchFamily="18" charset="0"/>
            </a:endParaRPr>
          </a:p>
          <a:p>
            <a:pPr marL="285750" indent="-285750">
              <a:buFontTx/>
              <a:buChar char="-"/>
            </a:pPr>
            <a:r>
              <a:rPr lang="en-IN" dirty="0" smtClean="0">
                <a:latin typeface="Adobe Garamond Pro Bold" panose="02020702060506020403" pitchFamily="18" charset="0"/>
              </a:rPr>
              <a:t>5V </a:t>
            </a:r>
            <a:r>
              <a:rPr lang="en-IN" dirty="0">
                <a:latin typeface="Adobe Garamond Pro Bold" panose="02020702060506020403" pitchFamily="18" charset="0"/>
              </a:rPr>
              <a:t>power, 3.3V logic for Rx, default baud 9600.</a:t>
            </a:r>
          </a:p>
        </p:txBody>
      </p:sp>
      <p:sp>
        <p:nvSpPr>
          <p:cNvPr id="13" name="Rectangle 12"/>
          <p:cNvSpPr/>
          <p:nvPr/>
        </p:nvSpPr>
        <p:spPr>
          <a:xfrm>
            <a:off x="6412570" y="1982411"/>
            <a:ext cx="5686503" cy="1200329"/>
          </a:xfrm>
          <a:prstGeom prst="rect">
            <a:avLst/>
          </a:prstGeom>
        </p:spPr>
        <p:txBody>
          <a:bodyPr wrap="square">
            <a:spAutoFit/>
          </a:bodyPr>
          <a:lstStyle/>
          <a:p>
            <a:pPr marL="285750" indent="-285750">
              <a:buFontTx/>
              <a:buChar char="-"/>
            </a:pPr>
            <a:r>
              <a:rPr lang="en-US" dirty="0" smtClean="0">
                <a:latin typeface="Adobe Garamond Pro Bold" panose="02020702060506020403" pitchFamily="18" charset="0"/>
              </a:rPr>
              <a:t>Lithium-ion </a:t>
            </a:r>
            <a:r>
              <a:rPr lang="en-US" dirty="0">
                <a:latin typeface="Adobe Garamond Pro Bold" panose="02020702060506020403" pitchFamily="18" charset="0"/>
              </a:rPr>
              <a:t>(Li-ion) </a:t>
            </a:r>
            <a:r>
              <a:rPr lang="en-US" dirty="0" smtClean="0">
                <a:latin typeface="Adobe Garamond Pro Bold" panose="02020702060506020403" pitchFamily="18" charset="0"/>
              </a:rPr>
              <a:t>batteries </a:t>
            </a:r>
            <a:r>
              <a:rPr lang="en-US" dirty="0">
                <a:latin typeface="Adobe Garamond Pro Bold" panose="02020702060506020403" pitchFamily="18" charset="0"/>
              </a:rPr>
              <a:t>are rechargeable.  </a:t>
            </a:r>
            <a:endParaRPr lang="en-US" dirty="0" smtClean="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High energy </a:t>
            </a:r>
            <a:r>
              <a:rPr lang="en-US" dirty="0">
                <a:latin typeface="Adobe Garamond Pro Bold" panose="02020702060506020403" pitchFamily="18" charset="0"/>
              </a:rPr>
              <a:t>density, </a:t>
            </a:r>
            <a:r>
              <a:rPr lang="en-US" dirty="0" smtClean="0">
                <a:latin typeface="Adobe Garamond Pro Bold" panose="02020702060506020403" pitchFamily="18" charset="0"/>
              </a:rPr>
              <a:t>lightweight, </a:t>
            </a:r>
            <a:r>
              <a:rPr lang="en-US" dirty="0">
                <a:latin typeface="Adobe Garamond Pro Bold" panose="02020702060506020403" pitchFamily="18" charset="0"/>
              </a:rPr>
              <a:t>and long lifespan. </a:t>
            </a:r>
            <a:endParaRPr lang="en-US" dirty="0" smtClean="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Commonly </a:t>
            </a:r>
            <a:r>
              <a:rPr lang="en-US" dirty="0">
                <a:latin typeface="Adobe Garamond Pro Bold" panose="02020702060506020403" pitchFamily="18" charset="0"/>
              </a:rPr>
              <a:t>used in </a:t>
            </a:r>
            <a:r>
              <a:rPr lang="en-US" dirty="0" smtClean="0">
                <a:latin typeface="Adobe Garamond Pro Bold" panose="02020702060506020403" pitchFamily="18" charset="0"/>
              </a:rPr>
              <a:t>electronics</a:t>
            </a:r>
            <a:r>
              <a:rPr lang="en-US" dirty="0">
                <a:latin typeface="Adobe Garamond Pro Bold" panose="02020702060506020403" pitchFamily="18" charset="0"/>
              </a:rPr>
              <a:t>, EVs, and </a:t>
            </a:r>
            <a:r>
              <a:rPr lang="en-US" dirty="0" smtClean="0">
                <a:latin typeface="Adobe Garamond Pro Bold" panose="02020702060506020403" pitchFamily="18" charset="0"/>
              </a:rPr>
              <a:t>robotics. </a:t>
            </a:r>
          </a:p>
          <a:p>
            <a:pPr marL="285750" indent="-285750">
              <a:buFontTx/>
              <a:buChar char="-"/>
            </a:pPr>
            <a:r>
              <a:rPr lang="en-US" dirty="0" smtClean="0">
                <a:latin typeface="Adobe Garamond Pro Bold" panose="02020702060506020403" pitchFamily="18" charset="0"/>
              </a:rPr>
              <a:t>Requires BMS </a:t>
            </a:r>
            <a:r>
              <a:rPr lang="en-US" dirty="0">
                <a:latin typeface="Adobe Garamond Pro Bold" panose="02020702060506020403" pitchFamily="18" charset="0"/>
              </a:rPr>
              <a:t>(Battery Management System</a:t>
            </a:r>
            <a:r>
              <a:rPr lang="en-US" dirty="0" smtClean="0">
                <a:latin typeface="Adobe Garamond Pro Bold" panose="02020702060506020403" pitchFamily="18" charset="0"/>
              </a:rPr>
              <a:t>)</a:t>
            </a:r>
            <a:r>
              <a:rPr lang="en-US" dirty="0">
                <a:latin typeface="Adobe Garamond Pro Bold" panose="02020702060506020403" pitchFamily="18" charset="0"/>
              </a:rPr>
              <a:t> for safety.</a:t>
            </a:r>
            <a:endParaRPr lang="en-IN" dirty="0">
              <a:latin typeface="Adobe Garamond Pro Bold" panose="02020702060506020403" pitchFamily="18" charset="0"/>
            </a:endParaRPr>
          </a:p>
        </p:txBody>
      </p:sp>
    </p:spTree>
    <p:extLst>
      <p:ext uri="{BB962C8B-B14F-4D97-AF65-F5344CB8AC3E}">
        <p14:creationId xmlns:p14="http://schemas.microsoft.com/office/powerpoint/2010/main" val="20013315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70E71CA-7531-E00B-8D5E-CA14C2F37072}"/>
              </a:ext>
            </a:extLst>
          </p:cNvPr>
          <p:cNvSpPr/>
          <p:nvPr/>
        </p:nvSpPr>
        <p:spPr>
          <a:xfrm>
            <a:off x="1560628" y="422255"/>
            <a:ext cx="3980578" cy="923330"/>
          </a:xfrm>
          <a:prstGeom prst="rect">
            <a:avLst/>
          </a:prstGeom>
          <a:noFill/>
        </p:spPr>
        <p:txBody>
          <a:bodyPr wrap="none" lIns="91440" tIns="45720" rIns="91440" bIns="45720">
            <a:spAutoFit/>
          </a:bodyPr>
          <a:lstStyle/>
          <a:p>
            <a:pPr algn="ct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mj-ea"/>
                <a:cs typeface="Times New Roman" panose="02020603050405020304" pitchFamily="18" charset="0"/>
              </a:rPr>
              <a:t>Components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9" name="Group 8">
            <a:extLst>
              <a:ext uri="{FF2B5EF4-FFF2-40B4-BE49-F238E27FC236}">
                <a16:creationId xmlns="" xmlns:a16="http://schemas.microsoft.com/office/drawing/2014/main" id="{EB6D9633-28E6-5E57-3DB7-7BF4E7C85430}"/>
              </a:ext>
            </a:extLst>
          </p:cNvPr>
          <p:cNvGrpSpPr/>
          <p:nvPr/>
        </p:nvGrpSpPr>
        <p:grpSpPr>
          <a:xfrm>
            <a:off x="196757" y="422256"/>
            <a:ext cx="920843" cy="923330"/>
            <a:chOff x="4429760" y="1564640"/>
            <a:chExt cx="1046480" cy="1046480"/>
          </a:xfrm>
        </p:grpSpPr>
        <p:sp>
          <p:nvSpPr>
            <p:cNvPr id="8" name="Oval 7">
              <a:extLst>
                <a:ext uri="{FF2B5EF4-FFF2-40B4-BE49-F238E27FC236}">
                  <a16:creationId xmlns="" xmlns:a16="http://schemas.microsoft.com/office/drawing/2014/main" id="{F858DE1A-BEA6-A74E-2D84-70FE0A52C347}"/>
                </a:ext>
              </a:extLst>
            </p:cNvPr>
            <p:cNvSpPr/>
            <p:nvPr/>
          </p:nvSpPr>
          <p:spPr>
            <a:xfrm>
              <a:off x="4429760" y="1564640"/>
              <a:ext cx="1046480" cy="104648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Graphic 6" descr="Head with gears with solid fill">
              <a:extLst>
                <a:ext uri="{FF2B5EF4-FFF2-40B4-BE49-F238E27FC236}">
                  <a16:creationId xmlns="" xmlns:a16="http://schemas.microsoft.com/office/drawing/2014/main" id="{E9AF585A-F6FD-66D7-6B27-EA6D40561CE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4495800" y="1630680"/>
              <a:ext cx="914400" cy="914400"/>
            </a:xfrm>
            <a:prstGeom prst="rect">
              <a:avLst/>
            </a:prstGeom>
          </p:spPr>
        </p:pic>
      </p:grpSp>
      <p:sp>
        <p:nvSpPr>
          <p:cNvPr id="11" name="TextBox 10">
            <a:extLst>
              <a:ext uri="{FF2B5EF4-FFF2-40B4-BE49-F238E27FC236}">
                <a16:creationId xmlns="" xmlns:a16="http://schemas.microsoft.com/office/drawing/2014/main" id="{65BE5A85-E49C-C709-F8F0-790D605B0AD2}"/>
              </a:ext>
            </a:extLst>
          </p:cNvPr>
          <p:cNvSpPr txBox="1"/>
          <p:nvPr/>
        </p:nvSpPr>
        <p:spPr>
          <a:xfrm>
            <a:off x="578485" y="1732841"/>
            <a:ext cx="10779760" cy="400110"/>
          </a:xfrm>
          <a:prstGeom prst="rect">
            <a:avLst/>
          </a:prstGeom>
          <a:noFill/>
        </p:spPr>
        <p:txBody>
          <a:bodyPr wrap="square">
            <a:spAutoFit/>
          </a:bodyPr>
          <a:lstStyle/>
          <a:p>
            <a:endParaRPr lang="en-IN" sz="2000" dirty="0"/>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t="3147" r="5833" b="6563"/>
          <a:stretch/>
        </p:blipFill>
        <p:spPr>
          <a:xfrm>
            <a:off x="1724025" y="1879337"/>
            <a:ext cx="2450623" cy="1861897"/>
          </a:xfrm>
          <a:prstGeom prst="rect">
            <a:avLst/>
          </a:prstGeom>
        </p:spPr>
      </p:pic>
      <p:sp>
        <p:nvSpPr>
          <p:cNvPr id="2" name="Rectangle 1"/>
          <p:cNvSpPr/>
          <p:nvPr/>
        </p:nvSpPr>
        <p:spPr>
          <a:xfrm>
            <a:off x="502916" y="4484095"/>
            <a:ext cx="6488433" cy="1754326"/>
          </a:xfrm>
          <a:prstGeom prst="rect">
            <a:avLst/>
          </a:prstGeom>
        </p:spPr>
        <p:txBody>
          <a:bodyPr wrap="square">
            <a:spAutoFit/>
          </a:bodyPr>
          <a:lstStyle/>
          <a:p>
            <a:pPr marL="285750" indent="-285750">
              <a:buFontTx/>
              <a:buChar char="-"/>
            </a:pPr>
            <a:r>
              <a:rPr lang="en-US" dirty="0" smtClean="0">
                <a:latin typeface="Adobe Garamond Pro Bold" panose="02020702060506020403" pitchFamily="18" charset="0"/>
              </a:rPr>
              <a:t>Sturdy </a:t>
            </a:r>
            <a:r>
              <a:rPr lang="en-US" dirty="0">
                <a:latin typeface="Adobe Garamond Pro Bold" panose="02020702060506020403" pitchFamily="18" charset="0"/>
              </a:rPr>
              <a:t>Build</a:t>
            </a:r>
            <a:r>
              <a:rPr lang="en-US" dirty="0" smtClean="0">
                <a:latin typeface="Adobe Garamond Pro Bold" panose="02020702060506020403" pitchFamily="18" charset="0"/>
              </a:rPr>
              <a:t>: </a:t>
            </a:r>
            <a:r>
              <a:rPr lang="en-US" dirty="0">
                <a:latin typeface="Adobe Garamond Pro Bold" panose="02020702060506020403" pitchFamily="18" charset="0"/>
              </a:rPr>
              <a:t>Black Acrylic chassis with precision-cut holes.  </a:t>
            </a:r>
          </a:p>
          <a:p>
            <a:pPr marL="285750" indent="-285750">
              <a:buFontTx/>
              <a:buChar char="-"/>
            </a:pPr>
            <a:r>
              <a:rPr lang="en-US" dirty="0" smtClean="0">
                <a:latin typeface="Adobe Garamond Pro Bold" panose="02020702060506020403" pitchFamily="18" charset="0"/>
              </a:rPr>
              <a:t>High </a:t>
            </a:r>
            <a:r>
              <a:rPr lang="en-US" dirty="0">
                <a:latin typeface="Adobe Garamond Pro Bold" panose="02020702060506020403" pitchFamily="18" charset="0"/>
              </a:rPr>
              <a:t>Mobility</a:t>
            </a:r>
            <a:r>
              <a:rPr lang="en-US" dirty="0" smtClean="0">
                <a:latin typeface="Adobe Garamond Pro Bold" panose="02020702060506020403" pitchFamily="18" charset="0"/>
              </a:rPr>
              <a:t>: </a:t>
            </a:r>
            <a:r>
              <a:rPr lang="en-US" dirty="0">
                <a:latin typeface="Adobe Garamond Pro Bold" panose="02020702060506020403" pitchFamily="18" charset="0"/>
              </a:rPr>
              <a:t>Four large wheels for all terrains. </a:t>
            </a:r>
            <a:r>
              <a:rPr lang="en-US" dirty="0" smtClean="0">
                <a:latin typeface="Adobe Garamond Pro Bold" panose="02020702060506020403" pitchFamily="18" charset="0"/>
              </a:rPr>
              <a:t> </a:t>
            </a:r>
          </a:p>
          <a:p>
            <a:pPr marL="285750" indent="-285750">
              <a:buFontTx/>
              <a:buChar char="-"/>
            </a:pPr>
            <a:r>
              <a:rPr lang="en-US" dirty="0" smtClean="0">
                <a:latin typeface="Adobe Garamond Pro Bold" panose="02020702060506020403" pitchFamily="18" charset="0"/>
              </a:rPr>
              <a:t>Modular </a:t>
            </a:r>
            <a:r>
              <a:rPr lang="en-US" dirty="0">
                <a:latin typeface="Adobe Garamond Pro Bold" panose="02020702060506020403" pitchFamily="18" charset="0"/>
              </a:rPr>
              <a:t>Design</a:t>
            </a:r>
            <a:r>
              <a:rPr lang="en-US" dirty="0" smtClean="0">
                <a:latin typeface="Adobe Garamond Pro Bold" panose="02020702060506020403" pitchFamily="18" charset="0"/>
              </a:rPr>
              <a:t>: </a:t>
            </a:r>
            <a:r>
              <a:rPr lang="en-US" dirty="0">
                <a:latin typeface="Adobe Garamond Pro Bold" panose="02020702060506020403" pitchFamily="18" charset="0"/>
              </a:rPr>
              <a:t>Attach sensors and controllers easily.  </a:t>
            </a:r>
          </a:p>
          <a:p>
            <a:pPr marL="285750" indent="-285750">
              <a:buFontTx/>
              <a:buChar char="-"/>
            </a:pPr>
            <a:r>
              <a:rPr lang="en-US" dirty="0" smtClean="0">
                <a:latin typeface="Adobe Garamond Pro Bold" panose="02020702060506020403" pitchFamily="18" charset="0"/>
              </a:rPr>
              <a:t>Versatile </a:t>
            </a:r>
            <a:r>
              <a:rPr lang="en-US" dirty="0">
                <a:latin typeface="Adobe Garamond Pro Bold" panose="02020702060506020403" pitchFamily="18" charset="0"/>
              </a:rPr>
              <a:t>Use</a:t>
            </a:r>
            <a:r>
              <a:rPr lang="en-US" dirty="0" smtClean="0">
                <a:latin typeface="Adobe Garamond Pro Bold" panose="02020702060506020403" pitchFamily="18" charset="0"/>
              </a:rPr>
              <a:t>: </a:t>
            </a:r>
            <a:r>
              <a:rPr lang="en-US" dirty="0">
                <a:latin typeface="Adobe Garamond Pro Bold" panose="02020702060506020403" pitchFamily="18" charset="0"/>
              </a:rPr>
              <a:t>Ideal for robotics and autonomous projects.  </a:t>
            </a:r>
            <a:endParaRPr lang="en-US" dirty="0" smtClean="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Custom </a:t>
            </a:r>
            <a:r>
              <a:rPr lang="en-US" dirty="0">
                <a:latin typeface="Adobe Garamond Pro Bold" panose="02020702060506020403" pitchFamily="18" charset="0"/>
              </a:rPr>
              <a:t>Mounting</a:t>
            </a:r>
            <a:r>
              <a:rPr lang="en-US" dirty="0" smtClean="0">
                <a:latin typeface="Adobe Garamond Pro Bold" panose="02020702060506020403" pitchFamily="18" charset="0"/>
              </a:rPr>
              <a:t>: </a:t>
            </a:r>
            <a:r>
              <a:rPr lang="en-US" dirty="0">
                <a:latin typeface="Adobe Garamond Pro Bold" panose="02020702060506020403" pitchFamily="18" charset="0"/>
              </a:rPr>
              <a:t>Drill holes as needed.  </a:t>
            </a:r>
            <a:endParaRPr lang="en-US" dirty="0" smtClean="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Extras: </a:t>
            </a:r>
            <a:r>
              <a:rPr lang="en-US" dirty="0">
                <a:latin typeface="Adobe Garamond Pro Bold" panose="02020702060506020403" pitchFamily="18" charset="0"/>
              </a:rPr>
              <a:t>3D-printed parts, two ultrasound holders, surprise item.</a:t>
            </a:r>
            <a:endParaRPr lang="en-IN" dirty="0">
              <a:latin typeface="Adobe Garamond Pro Bold" panose="02020702060506020403" pitchFamily="18" charset="0"/>
            </a:endParaRPr>
          </a:p>
        </p:txBody>
      </p:sp>
      <p:sp>
        <p:nvSpPr>
          <p:cNvPr id="10" name="Rectangle 9"/>
          <p:cNvSpPr/>
          <p:nvPr/>
        </p:nvSpPr>
        <p:spPr>
          <a:xfrm>
            <a:off x="6457949" y="2071621"/>
            <a:ext cx="5551167" cy="1477328"/>
          </a:xfrm>
          <a:prstGeom prst="rect">
            <a:avLst/>
          </a:prstGeom>
        </p:spPr>
        <p:txBody>
          <a:bodyPr wrap="square">
            <a:spAutoFit/>
          </a:bodyPr>
          <a:lstStyle/>
          <a:p>
            <a:pPr marL="285750" indent="-285750">
              <a:buFontTx/>
              <a:buChar char="-"/>
            </a:pPr>
            <a:r>
              <a:rPr lang="en-US" dirty="0" smtClean="0">
                <a:latin typeface="Adobe Garamond Pro Bold" panose="02020702060506020403" pitchFamily="18" charset="0"/>
              </a:rPr>
              <a:t>Arduino </a:t>
            </a:r>
            <a:r>
              <a:rPr lang="en-US" dirty="0">
                <a:latin typeface="Adobe Garamond Pro Bold" panose="02020702060506020403" pitchFamily="18" charset="0"/>
              </a:rPr>
              <a:t>Motor Driver </a:t>
            </a:r>
            <a:r>
              <a:rPr lang="en-US" dirty="0" smtClean="0">
                <a:latin typeface="Adobe Garamond Pro Bold" panose="02020702060506020403" pitchFamily="18" charset="0"/>
              </a:rPr>
              <a:t>Shield </a:t>
            </a:r>
            <a:r>
              <a:rPr lang="en-US" dirty="0">
                <a:latin typeface="Adobe Garamond Pro Bold" panose="02020702060506020403" pitchFamily="18" charset="0"/>
              </a:rPr>
              <a:t>controls DC motors, servos, and steppers.  </a:t>
            </a:r>
          </a:p>
          <a:p>
            <a:pPr marL="285750" indent="-285750">
              <a:buFontTx/>
              <a:buChar char="-"/>
            </a:pPr>
            <a:r>
              <a:rPr lang="en-US" dirty="0" smtClean="0">
                <a:latin typeface="Adobe Garamond Pro Bold" panose="02020702060506020403" pitchFamily="18" charset="0"/>
              </a:rPr>
              <a:t>Based </a:t>
            </a:r>
            <a:r>
              <a:rPr lang="en-US" dirty="0">
                <a:latin typeface="Adobe Garamond Pro Bold" panose="02020702060506020403" pitchFamily="18" charset="0"/>
              </a:rPr>
              <a:t>on </a:t>
            </a:r>
            <a:r>
              <a:rPr lang="en-US" dirty="0" smtClean="0">
                <a:latin typeface="Adobe Garamond Pro Bold" panose="02020702060506020403" pitchFamily="18" charset="0"/>
              </a:rPr>
              <a:t>L293D </a:t>
            </a:r>
            <a:r>
              <a:rPr lang="en-US" dirty="0">
                <a:latin typeface="Adobe Garamond Pro Bold" panose="02020702060506020403" pitchFamily="18" charset="0"/>
              </a:rPr>
              <a:t>or </a:t>
            </a:r>
            <a:r>
              <a:rPr lang="en-US" dirty="0" smtClean="0">
                <a:latin typeface="Adobe Garamond Pro Bold" panose="02020702060506020403" pitchFamily="18" charset="0"/>
              </a:rPr>
              <a:t>L298P </a:t>
            </a:r>
            <a:r>
              <a:rPr lang="en-US" dirty="0">
                <a:latin typeface="Adobe Garamond Pro Bold" panose="02020702060506020403" pitchFamily="18" charset="0"/>
              </a:rPr>
              <a:t>for motor control.  </a:t>
            </a:r>
            <a:endParaRPr lang="en-US" dirty="0" smtClean="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Supports 2-4 </a:t>
            </a:r>
            <a:r>
              <a:rPr lang="en-US" dirty="0">
                <a:latin typeface="Adobe Garamond Pro Bold" panose="02020702060506020403" pitchFamily="18" charset="0"/>
              </a:rPr>
              <a:t>motors, with </a:t>
            </a:r>
            <a:r>
              <a:rPr lang="en-US" dirty="0" smtClean="0">
                <a:latin typeface="Adobe Garamond Pro Bold" panose="02020702060506020403" pitchFamily="18" charset="0"/>
              </a:rPr>
              <a:t>PWM </a:t>
            </a:r>
            <a:r>
              <a:rPr lang="en-US" dirty="0">
                <a:latin typeface="Adobe Garamond Pro Bold" panose="02020702060506020403" pitchFamily="18" charset="0"/>
              </a:rPr>
              <a:t>speed </a:t>
            </a:r>
            <a:r>
              <a:rPr lang="en-US" dirty="0" smtClean="0">
                <a:latin typeface="Adobe Garamond Pro Bold" panose="02020702060506020403" pitchFamily="18" charset="0"/>
              </a:rPr>
              <a:t>control.  </a:t>
            </a:r>
            <a:endParaRPr lang="en-US" dirty="0">
              <a:latin typeface="Adobe Garamond Pro Bold" panose="02020702060506020403" pitchFamily="18" charset="0"/>
            </a:endParaRPr>
          </a:p>
          <a:p>
            <a:pPr marL="285750" indent="-285750">
              <a:buFontTx/>
              <a:buChar char="-"/>
            </a:pPr>
            <a:r>
              <a:rPr lang="en-US" dirty="0" smtClean="0">
                <a:latin typeface="Adobe Garamond Pro Bold" panose="02020702060506020403" pitchFamily="18" charset="0"/>
              </a:rPr>
              <a:t>Powered </a:t>
            </a:r>
            <a:r>
              <a:rPr lang="en-US" dirty="0">
                <a:latin typeface="Adobe Garamond Pro Bold" panose="02020702060506020403" pitchFamily="18" charset="0"/>
              </a:rPr>
              <a:t>by </a:t>
            </a:r>
            <a:r>
              <a:rPr lang="en-US" dirty="0" smtClean="0">
                <a:latin typeface="Adobe Garamond Pro Bold" panose="02020702060506020403" pitchFamily="18" charset="0"/>
              </a:rPr>
              <a:t>external </a:t>
            </a:r>
            <a:r>
              <a:rPr lang="en-US" dirty="0">
                <a:latin typeface="Adobe Garamond Pro Bold" panose="02020702060506020403" pitchFamily="18" charset="0"/>
              </a:rPr>
              <a:t>supply (up to 12V</a:t>
            </a:r>
            <a:r>
              <a:rPr lang="en-US" dirty="0" smtClean="0">
                <a:latin typeface="Adobe Garamond Pro Bold" panose="02020702060506020403" pitchFamily="18" charset="0"/>
              </a:rPr>
              <a:t>) </a:t>
            </a:r>
            <a:r>
              <a:rPr lang="en-US" dirty="0">
                <a:latin typeface="Adobe Garamond Pro Bold" panose="02020702060506020403" pitchFamily="18" charset="0"/>
              </a:rPr>
              <a:t>or Arduino.</a:t>
            </a:r>
            <a:endParaRPr lang="en-IN" dirty="0">
              <a:latin typeface="Adobe Garamond Pro Bold" panose="02020702060506020403" pitchFamily="18" charset="0"/>
            </a:endParaRPr>
          </a:p>
        </p:txBody>
      </p:sp>
      <p:pic>
        <p:nvPicPr>
          <p:cNvPr id="12" name="Picture 11"/>
          <p:cNvPicPr>
            <a:picLocks noChangeAspect="1"/>
          </p:cNvPicPr>
          <p:nvPr/>
        </p:nvPicPr>
        <p:blipFill rotWithShape="1">
          <a:blip r:embed="rId5">
            <a:extLst>
              <a:ext uri="{28A0092B-C50C-407E-A947-70E740481C1C}">
                <a14:useLocalDpi xmlns:a14="http://schemas.microsoft.com/office/drawing/2010/main" val="0"/>
              </a:ext>
            </a:extLst>
          </a:blip>
          <a:srcRect l="4464" t="13400" r="9001" b="25476"/>
          <a:stretch/>
        </p:blipFill>
        <p:spPr>
          <a:xfrm>
            <a:off x="8197673" y="4168000"/>
            <a:ext cx="2513769" cy="1775600"/>
          </a:xfrm>
          <a:prstGeom prst="rect">
            <a:avLst/>
          </a:prstGeom>
        </p:spPr>
      </p:pic>
    </p:spTree>
    <p:extLst>
      <p:ext uri="{BB962C8B-B14F-4D97-AF65-F5344CB8AC3E}">
        <p14:creationId xmlns:p14="http://schemas.microsoft.com/office/powerpoint/2010/main" val="1978408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DAF8111-621E-1322-7552-A0DA74B1D133}"/>
              </a:ext>
            </a:extLst>
          </p:cNvPr>
          <p:cNvSpPr txBox="1"/>
          <p:nvPr/>
        </p:nvSpPr>
        <p:spPr>
          <a:xfrm>
            <a:off x="410429" y="3303377"/>
            <a:ext cx="5119551" cy="1015663"/>
          </a:xfrm>
          <a:prstGeom prst="rect">
            <a:avLst/>
          </a:prstGeom>
          <a:noFill/>
        </p:spPr>
        <p:txBody>
          <a:bodyPr wrap="square">
            <a:spAutoFit/>
          </a:bodyPr>
          <a:lstStyle/>
          <a:p>
            <a:pPr algn="ctr"/>
            <a:r>
              <a:rPr lang="en-US" sz="6000" b="1" spc="50" dirty="0" smtClean="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Calibri" panose="020F0502020204030204" pitchFamily="34" charset="0"/>
              </a:rPr>
              <a:t>Flow </a:t>
            </a:r>
            <a:r>
              <a:rPr lang="en-IN" sz="6000" b="1" spc="50" dirty="0" smtClean="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ea typeface="Calibri" panose="020F0502020204030204" pitchFamily="34" charset="0"/>
              </a:rPr>
              <a:t>Chart</a:t>
            </a:r>
            <a:endParaRPr lang="en-IN" sz="6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5" name="Group 4">
            <a:extLst>
              <a:ext uri="{FF2B5EF4-FFF2-40B4-BE49-F238E27FC236}">
                <a16:creationId xmlns="" xmlns:a16="http://schemas.microsoft.com/office/drawing/2014/main" id="{609C26A0-9046-7426-764A-5775D1D7958A}"/>
              </a:ext>
            </a:extLst>
          </p:cNvPr>
          <p:cNvGrpSpPr/>
          <p:nvPr/>
        </p:nvGrpSpPr>
        <p:grpSpPr>
          <a:xfrm>
            <a:off x="2515436" y="2175824"/>
            <a:ext cx="909536" cy="909536"/>
            <a:chOff x="-1253126" y="4127348"/>
            <a:chExt cx="909536" cy="909536"/>
          </a:xfrm>
        </p:grpSpPr>
        <p:sp>
          <p:nvSpPr>
            <p:cNvPr id="6" name="Oval 5">
              <a:extLst>
                <a:ext uri="{FF2B5EF4-FFF2-40B4-BE49-F238E27FC236}">
                  <a16:creationId xmlns="" xmlns:a16="http://schemas.microsoft.com/office/drawing/2014/main" id="{7A98BBC0-3CA0-A7E6-2F67-547884F3C05A}"/>
                </a:ext>
              </a:extLst>
            </p:cNvPr>
            <p:cNvSpPr/>
            <p:nvPr/>
          </p:nvSpPr>
          <p:spPr>
            <a:xfrm>
              <a:off x="-1253126" y="4127348"/>
              <a:ext cx="909536" cy="90953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Graphic 6" descr="Bar graph with upward trend with solid fill">
              <a:extLst>
                <a:ext uri="{FF2B5EF4-FFF2-40B4-BE49-F238E27FC236}">
                  <a16:creationId xmlns="" xmlns:a16="http://schemas.microsoft.com/office/drawing/2014/main" id="{1782C26B-D233-21B7-B029-AABB12780B6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91287" y="4216431"/>
              <a:ext cx="785857" cy="785857"/>
            </a:xfrm>
            <a:prstGeom prst="rect">
              <a:avLst/>
            </a:prstGeom>
          </p:spPr>
        </p:pic>
      </p:grpSp>
      <p:pic>
        <p:nvPicPr>
          <p:cNvPr id="121" name="Picture 1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62105" y="374982"/>
            <a:ext cx="3715030" cy="6224521"/>
          </a:xfrm>
          <a:prstGeom prst="rect">
            <a:avLst/>
          </a:prstGeom>
        </p:spPr>
      </p:pic>
    </p:spTree>
    <p:extLst>
      <p:ext uri="{BB962C8B-B14F-4D97-AF65-F5344CB8AC3E}">
        <p14:creationId xmlns:p14="http://schemas.microsoft.com/office/powerpoint/2010/main" val="139598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E740802-A231-ECCB-F07F-915E9E4F128E}"/>
              </a:ext>
            </a:extLst>
          </p:cNvPr>
          <p:cNvSpPr/>
          <p:nvPr/>
        </p:nvSpPr>
        <p:spPr>
          <a:xfrm>
            <a:off x="991299" y="418687"/>
            <a:ext cx="4275529"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OUTCOMES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7271" y="1438520"/>
            <a:ext cx="5686223" cy="41148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929" y="1523186"/>
            <a:ext cx="5520267" cy="3945467"/>
          </a:xfrm>
          <a:prstGeom prst="rect">
            <a:avLst/>
          </a:prstGeom>
        </p:spPr>
      </p:pic>
      <p:sp>
        <p:nvSpPr>
          <p:cNvPr id="6" name="TextBox 5"/>
          <p:cNvSpPr txBox="1"/>
          <p:nvPr/>
        </p:nvSpPr>
        <p:spPr>
          <a:xfrm>
            <a:off x="2116665" y="5740400"/>
            <a:ext cx="2658533" cy="369332"/>
          </a:xfrm>
          <a:prstGeom prst="rect">
            <a:avLst/>
          </a:prstGeom>
          <a:noFill/>
        </p:spPr>
        <p:txBody>
          <a:bodyPr wrap="square" rtlCol="0">
            <a:spAutoFit/>
          </a:bodyPr>
          <a:lstStyle/>
          <a:p>
            <a:r>
              <a:rPr lang="en-IN" b="1" dirty="0" err="1">
                <a:latin typeface="Adobe Caslon Pro Bold" panose="0205070206050A020403" pitchFamily="18" charset="0"/>
              </a:rPr>
              <a:t>Amaranthus</a:t>
            </a:r>
            <a:r>
              <a:rPr lang="en-IN" b="1" dirty="0">
                <a:latin typeface="Adobe Caslon Pro Bold" panose="0205070206050A020403" pitchFamily="18" charset="0"/>
              </a:rPr>
              <a:t> </a:t>
            </a:r>
            <a:r>
              <a:rPr lang="en-IN" b="1" dirty="0" err="1">
                <a:latin typeface="Adobe Caslon Pro Bold" panose="0205070206050A020403" pitchFamily="18" charset="0"/>
              </a:rPr>
              <a:t>viridis</a:t>
            </a:r>
            <a:r>
              <a:rPr lang="en-IN" b="1" dirty="0">
                <a:latin typeface="Adobe Caslon Pro Bold" panose="0205070206050A020403" pitchFamily="18" charset="0"/>
              </a:rPr>
              <a:t> t-1</a:t>
            </a:r>
          </a:p>
        </p:txBody>
      </p:sp>
      <p:sp>
        <p:nvSpPr>
          <p:cNvPr id="7" name="TextBox 6"/>
          <p:cNvSpPr txBox="1"/>
          <p:nvPr/>
        </p:nvSpPr>
        <p:spPr>
          <a:xfrm>
            <a:off x="8390465" y="5681133"/>
            <a:ext cx="2658533" cy="369332"/>
          </a:xfrm>
          <a:prstGeom prst="rect">
            <a:avLst/>
          </a:prstGeom>
          <a:noFill/>
        </p:spPr>
        <p:txBody>
          <a:bodyPr wrap="square" rtlCol="0">
            <a:spAutoFit/>
          </a:bodyPr>
          <a:lstStyle/>
          <a:p>
            <a:r>
              <a:rPr lang="en-IN" b="1" dirty="0" err="1" smtClean="0">
                <a:latin typeface="Adobe Caslon Pro Bold" panose="0205070206050A020403" pitchFamily="18" charset="0"/>
              </a:rPr>
              <a:t>Goosegrass</a:t>
            </a:r>
            <a:r>
              <a:rPr lang="en-IN" b="1" dirty="0" smtClean="0">
                <a:latin typeface="Adobe Caslon Pro Bold" panose="0205070206050A020403" pitchFamily="18" charset="0"/>
              </a:rPr>
              <a:t> t-2</a:t>
            </a:r>
            <a:endParaRPr lang="en-IN" b="1" dirty="0">
              <a:latin typeface="Adobe Caslon Pro Bold" panose="0205070206050A020403" pitchFamily="18" charset="0"/>
            </a:endParaRPr>
          </a:p>
        </p:txBody>
      </p:sp>
    </p:spTree>
    <p:extLst>
      <p:ext uri="{BB962C8B-B14F-4D97-AF65-F5344CB8AC3E}">
        <p14:creationId xmlns:p14="http://schemas.microsoft.com/office/powerpoint/2010/main" val="5898293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E740802-A231-ECCB-F07F-915E9E4F128E}"/>
              </a:ext>
            </a:extLst>
          </p:cNvPr>
          <p:cNvSpPr/>
          <p:nvPr/>
        </p:nvSpPr>
        <p:spPr>
          <a:xfrm>
            <a:off x="991299" y="418687"/>
            <a:ext cx="4275529"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OUTCOMES</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9063" y="1561092"/>
            <a:ext cx="6634479" cy="4731200"/>
          </a:xfrm>
          <a:prstGeom prst="rect">
            <a:avLst/>
          </a:prstGeom>
        </p:spPr>
      </p:pic>
    </p:spTree>
    <p:extLst>
      <p:ext uri="{BB962C8B-B14F-4D97-AF65-F5344CB8AC3E}">
        <p14:creationId xmlns:p14="http://schemas.microsoft.com/office/powerpoint/2010/main" val="27795002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50F3D79B-87CF-164A-C64C-2A967B7D7BD3}"/>
              </a:ext>
            </a:extLst>
          </p:cNvPr>
          <p:cNvSpPr/>
          <p:nvPr/>
        </p:nvSpPr>
        <p:spPr>
          <a:xfrm>
            <a:off x="1417126" y="403485"/>
            <a:ext cx="6167073"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Module Description</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7" name="TextBox 6">
            <a:extLst>
              <a:ext uri="{FF2B5EF4-FFF2-40B4-BE49-F238E27FC236}">
                <a16:creationId xmlns="" xmlns:a16="http://schemas.microsoft.com/office/drawing/2014/main" id="{7CB90E59-44E7-B9B5-9CEB-FAEBDB287DD3}"/>
              </a:ext>
            </a:extLst>
          </p:cNvPr>
          <p:cNvSpPr txBox="1"/>
          <p:nvPr/>
        </p:nvSpPr>
        <p:spPr>
          <a:xfrm>
            <a:off x="575553" y="1576759"/>
            <a:ext cx="11040893" cy="3970318"/>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AI-driven weed detection and herbicide spraying system captures real-time images using a Pi Camera and processes them with </a:t>
            </a:r>
            <a:r>
              <a:rPr lang="en-US" sz="2800" dirty="0" err="1">
                <a:latin typeface="Times New Roman" panose="02020603050405020304" pitchFamily="18" charset="0"/>
                <a:cs typeface="Times New Roman" panose="02020603050405020304" pitchFamily="18" charset="0"/>
              </a:rPr>
              <a:t>OpenCV</a:t>
            </a:r>
            <a:r>
              <a:rPr lang="en-US" sz="2800" dirty="0">
                <a:latin typeface="Times New Roman" panose="02020603050405020304" pitchFamily="18" charset="0"/>
                <a:cs typeface="Times New Roman" panose="02020603050405020304" pitchFamily="18" charset="0"/>
              </a:rPr>
              <a:t>. A </a:t>
            </a:r>
            <a:r>
              <a:rPr lang="en-US" sz="2800" dirty="0" err="1">
                <a:latin typeface="Times New Roman" panose="02020603050405020304" pitchFamily="18" charset="0"/>
                <a:cs typeface="Times New Roman" panose="02020603050405020304" pitchFamily="18" charset="0"/>
              </a:rPr>
              <a:t>TensorFlow</a:t>
            </a:r>
            <a:r>
              <a:rPr lang="en-US" sz="2800" dirty="0">
                <a:latin typeface="Times New Roman" panose="02020603050405020304" pitchFamily="18" charset="0"/>
                <a:cs typeface="Times New Roman" panose="02020603050405020304" pitchFamily="18" charset="0"/>
              </a:rPr>
              <a:t> Lite model classifies weeds and crops, enabling precise herbicide spraying through a Raspberry Pi-controlled motor and pump system. An Arduino-powered mobility module ensures smooth navigation, while an HC-05 Bluetooth module allows remote monitoring. A 2.3W power bank and lithium-ion batteries efficiently power the system. This approach enhances precision agriculture by reducing herbicide waste and improving automation. </a:t>
            </a:r>
            <a:endParaRPr lang="en-IN" sz="2800" dirty="0">
              <a:latin typeface="Times New Roman" panose="02020603050405020304" pitchFamily="18" charset="0"/>
              <a:cs typeface="Times New Roman" panose="02020603050405020304" pitchFamily="18" charset="0"/>
            </a:endParaRPr>
          </a:p>
        </p:txBody>
      </p:sp>
      <p:sp>
        <p:nvSpPr>
          <p:cNvPr id="3" name="Rectangle 2"/>
          <p:cNvSpPr/>
          <p:nvPr/>
        </p:nvSpPr>
        <p:spPr>
          <a:xfrm>
            <a:off x="575553" y="480429"/>
            <a:ext cx="2211434" cy="769441"/>
          </a:xfrm>
          <a:prstGeom prst="rect">
            <a:avLst/>
          </a:prstGeom>
        </p:spPr>
        <p:txBody>
          <a:bodyPr wrap="square">
            <a:spAutoFit/>
          </a:bodyPr>
          <a:lstStyle/>
          <a:p>
            <a:r>
              <a:rPr lang="en-US" sz="4400" dirty="0">
                <a:latin typeface="Times New Roman" panose="02020603050405020304" pitchFamily="18" charset="0"/>
                <a:cs typeface="Times New Roman" panose="02020603050405020304" pitchFamily="18" charset="0"/>
              </a:rPr>
              <a:t>🚜</a:t>
            </a:r>
            <a:endParaRPr lang="en-IN" sz="4400" dirty="0"/>
          </a:p>
        </p:txBody>
      </p:sp>
    </p:spTree>
    <p:extLst>
      <p:ext uri="{BB962C8B-B14F-4D97-AF65-F5344CB8AC3E}">
        <p14:creationId xmlns:p14="http://schemas.microsoft.com/office/powerpoint/2010/main" val="1234029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6B1827BD-8C2A-64C1-7D62-B8F51A4EBC62}"/>
              </a:ext>
            </a:extLst>
          </p:cNvPr>
          <p:cNvSpPr/>
          <p:nvPr/>
        </p:nvSpPr>
        <p:spPr>
          <a:xfrm>
            <a:off x="1194729" y="399233"/>
            <a:ext cx="3557384"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Conclusion</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 name="TextBox 2">
            <a:extLst>
              <a:ext uri="{FF2B5EF4-FFF2-40B4-BE49-F238E27FC236}">
                <a16:creationId xmlns="" xmlns:a16="http://schemas.microsoft.com/office/drawing/2014/main" id="{A8AEF29A-6B7E-C88F-5D53-4A50F1C07CFA}"/>
              </a:ext>
            </a:extLst>
          </p:cNvPr>
          <p:cNvSpPr txBox="1"/>
          <p:nvPr/>
        </p:nvSpPr>
        <p:spPr>
          <a:xfrm>
            <a:off x="963037" y="1725465"/>
            <a:ext cx="10642059" cy="3970318"/>
          </a:xfrm>
          <a:prstGeom prst="rect">
            <a:avLst/>
          </a:prstGeom>
          <a:noFill/>
        </p:spPr>
        <p:txBody>
          <a:bodyPr wrap="square">
            <a:spAutoFit/>
          </a:bodyPr>
          <a:lstStyle/>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AI-driven weed detection and herbicide spraying system enhances precision agriculture by automating weed identification and targeted herbicide application. By integrating Raspberry Pi, Arduino, </a:t>
            </a:r>
            <a:r>
              <a:rPr lang="en-US" sz="2800" dirty="0" err="1">
                <a:latin typeface="Times New Roman" panose="02020603050405020304" pitchFamily="18" charset="0"/>
                <a:cs typeface="Times New Roman" panose="02020603050405020304" pitchFamily="18" charset="0"/>
              </a:rPr>
              <a:t>TensorFlow</a:t>
            </a:r>
            <a:r>
              <a:rPr lang="en-US" sz="2800" dirty="0">
                <a:latin typeface="Times New Roman" panose="02020603050405020304" pitchFamily="18" charset="0"/>
                <a:cs typeface="Times New Roman" panose="02020603050405020304" pitchFamily="18" charset="0"/>
              </a:rPr>
              <a:t> Lite, and </a:t>
            </a:r>
            <a:r>
              <a:rPr lang="en-US" sz="2800" dirty="0" err="1">
                <a:latin typeface="Times New Roman" panose="02020603050405020304" pitchFamily="18" charset="0"/>
                <a:cs typeface="Times New Roman" panose="02020603050405020304" pitchFamily="18" charset="0"/>
              </a:rPr>
              <a:t>OpenCV</a:t>
            </a:r>
            <a:r>
              <a:rPr lang="en-US" sz="2800" dirty="0">
                <a:latin typeface="Times New Roman" panose="02020603050405020304" pitchFamily="18" charset="0"/>
                <a:cs typeface="Times New Roman" panose="02020603050405020304" pitchFamily="18" charset="0"/>
              </a:rPr>
              <a:t>, the system efficiently detects weeds, reduces herbicide waste, and minimizes manual labor. Remote monitoring via Bluetooth ensures ease of control, while optimized power management supports uninterrupted operation. This smart agricultural solution promotes </a:t>
            </a:r>
            <a:r>
              <a:rPr lang="en-US" sz="2800" dirty="0" smtClean="0">
                <a:latin typeface="Times New Roman" panose="02020603050405020304" pitchFamily="18" charset="0"/>
                <a:cs typeface="Times New Roman" panose="02020603050405020304" pitchFamily="18" charset="0"/>
              </a:rPr>
              <a:t>cost-effectiveness</a:t>
            </a:r>
            <a:r>
              <a:rPr lang="en-US" sz="2800" dirty="0">
                <a:latin typeface="Times New Roman" panose="02020603050405020304" pitchFamily="18" charset="0"/>
                <a:cs typeface="Times New Roman" panose="02020603050405020304" pitchFamily="18" charset="0"/>
              </a:rPr>
              <a:t>, sustainability, and </a:t>
            </a:r>
            <a:r>
              <a:rPr lang="en-US" sz="2800" dirty="0" smtClean="0">
                <a:latin typeface="Times New Roman" panose="02020603050405020304" pitchFamily="18" charset="0"/>
                <a:cs typeface="Times New Roman" panose="02020603050405020304" pitchFamily="18" charset="0"/>
              </a:rPr>
              <a:t>efficiency, </a:t>
            </a:r>
            <a:r>
              <a:rPr lang="en-US" sz="2800" dirty="0">
                <a:latin typeface="Times New Roman" panose="02020603050405020304" pitchFamily="18" charset="0"/>
                <a:cs typeface="Times New Roman" panose="02020603050405020304" pitchFamily="18" charset="0"/>
              </a:rPr>
              <a:t>making it a valuable tool for modern farming. </a:t>
            </a:r>
            <a:endParaRPr lang="en-IN" sz="2800" dirty="0">
              <a:latin typeface="Times New Roman" panose="02020603050405020304" pitchFamily="18" charset="0"/>
              <a:cs typeface="Times New Roman" panose="02020603050405020304" pitchFamily="18" charset="0"/>
            </a:endParaRPr>
          </a:p>
        </p:txBody>
      </p:sp>
      <p:sp>
        <p:nvSpPr>
          <p:cNvPr id="6" name="Rectangle 5"/>
          <p:cNvSpPr/>
          <p:nvPr/>
        </p:nvSpPr>
        <p:spPr>
          <a:xfrm>
            <a:off x="665519" y="646852"/>
            <a:ext cx="595035"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endParaRPr lang="en-IN" sz="3200" dirty="0"/>
          </a:p>
        </p:txBody>
      </p:sp>
    </p:spTree>
    <p:extLst>
      <p:ext uri="{BB962C8B-B14F-4D97-AF65-F5344CB8AC3E}">
        <p14:creationId xmlns:p14="http://schemas.microsoft.com/office/powerpoint/2010/main" val="35620615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TotalTime>
  <Words>557</Words>
  <Application>Microsoft Office PowerPoint</Application>
  <PresentationFormat>Widescreen</PresentationFormat>
  <Paragraphs>64</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Adobe Caslon Pro Bold</vt:lpstr>
      <vt:lpstr>Adobe Garamond Pro Bold</vt: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mr.abhishek3512@gmail.com</dc:creator>
  <cp:lastModifiedBy>SAMBHAJI</cp:lastModifiedBy>
  <cp:revision>24</cp:revision>
  <dcterms:created xsi:type="dcterms:W3CDTF">2023-04-23T16:38:52Z</dcterms:created>
  <dcterms:modified xsi:type="dcterms:W3CDTF">2025-03-12T06:23:21Z</dcterms:modified>
</cp:coreProperties>
</file>